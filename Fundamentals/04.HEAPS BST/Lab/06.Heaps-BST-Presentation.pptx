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6"/>
  </p:notesMasterIdLst>
  <p:handoutMasterIdLst>
    <p:handoutMasterId r:id="rId57"/>
  </p:handoutMasterIdLst>
  <p:sldIdLst>
    <p:sldId id="503" r:id="rId2"/>
    <p:sldId id="504" r:id="rId3"/>
    <p:sldId id="258" r:id="rId4"/>
    <p:sldId id="683" r:id="rId5"/>
    <p:sldId id="692" r:id="rId6"/>
    <p:sldId id="684" r:id="rId7"/>
    <p:sldId id="693" r:id="rId8"/>
    <p:sldId id="694" r:id="rId9"/>
    <p:sldId id="695" r:id="rId10"/>
    <p:sldId id="688" r:id="rId11"/>
    <p:sldId id="689" r:id="rId12"/>
    <p:sldId id="690" r:id="rId13"/>
    <p:sldId id="685" r:id="rId14"/>
    <p:sldId id="686" r:id="rId15"/>
    <p:sldId id="687" r:id="rId16"/>
    <p:sldId id="691" r:id="rId17"/>
    <p:sldId id="701" r:id="rId18"/>
    <p:sldId id="702" r:id="rId19"/>
    <p:sldId id="703" r:id="rId20"/>
    <p:sldId id="704" r:id="rId21"/>
    <p:sldId id="705" r:id="rId22"/>
    <p:sldId id="706" r:id="rId23"/>
    <p:sldId id="707" r:id="rId24"/>
    <p:sldId id="708" r:id="rId25"/>
    <p:sldId id="696" r:id="rId26"/>
    <p:sldId id="749" r:id="rId27"/>
    <p:sldId id="697" r:id="rId28"/>
    <p:sldId id="698" r:id="rId29"/>
    <p:sldId id="699" r:id="rId30"/>
    <p:sldId id="700" r:id="rId31"/>
    <p:sldId id="709" r:id="rId32"/>
    <p:sldId id="710" r:id="rId33"/>
    <p:sldId id="711" r:id="rId34"/>
    <p:sldId id="719" r:id="rId35"/>
    <p:sldId id="720" r:id="rId36"/>
    <p:sldId id="721" r:id="rId37"/>
    <p:sldId id="722" r:id="rId38"/>
    <p:sldId id="723" r:id="rId39"/>
    <p:sldId id="725" r:id="rId40"/>
    <p:sldId id="726" r:id="rId41"/>
    <p:sldId id="727" r:id="rId42"/>
    <p:sldId id="728" r:id="rId43"/>
    <p:sldId id="729" r:id="rId44"/>
    <p:sldId id="731" r:id="rId45"/>
    <p:sldId id="732" r:id="rId46"/>
    <p:sldId id="740" r:id="rId47"/>
    <p:sldId id="741" r:id="rId48"/>
    <p:sldId id="742" r:id="rId49"/>
    <p:sldId id="743" r:id="rId50"/>
    <p:sldId id="744" r:id="rId51"/>
    <p:sldId id="571" r:id="rId52"/>
    <p:sldId id="305" r:id="rId53"/>
    <p:sldId id="329" r:id="rId54"/>
    <p:sldId id="33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DC39174-A26B-4683-B15F-EF6212F74BAE}">
          <p14:sldIdLst>
            <p14:sldId id="503"/>
            <p14:sldId id="504"/>
            <p14:sldId id="258"/>
          </p14:sldIdLst>
        </p14:section>
        <p14:section name="Binary Trees and BT Traversal" id="{379C7E41-2440-48A7-983A-27DB161530C2}">
          <p14:sldIdLst>
            <p14:sldId id="683"/>
            <p14:sldId id="692"/>
            <p14:sldId id="684"/>
            <p14:sldId id="693"/>
            <p14:sldId id="694"/>
            <p14:sldId id="695"/>
            <p14:sldId id="688"/>
            <p14:sldId id="689"/>
            <p14:sldId id="690"/>
            <p14:sldId id="685"/>
            <p14:sldId id="686"/>
            <p14:sldId id="687"/>
            <p14:sldId id="691"/>
          </p14:sldIdLst>
        </p14:section>
        <p14:section name="Heaps, Binary Heaps" id="{38D35AD2-BF43-4629-ACCE-3DB483C74948}">
          <p14:sldIdLst>
            <p14:sldId id="701"/>
            <p14:sldId id="702"/>
            <p14:sldId id="703"/>
            <p14:sldId id="704"/>
            <p14:sldId id="705"/>
            <p14:sldId id="706"/>
            <p14:sldId id="707"/>
            <p14:sldId id="708"/>
          </p14:sldIdLst>
        </p14:section>
        <p14:section name="PriorityQueue" id="{8A003D5E-6EAB-4102-BDEF-E8DD77D8F84A}">
          <p14:sldIdLst>
            <p14:sldId id="696"/>
            <p14:sldId id="749"/>
            <p14:sldId id="697"/>
            <p14:sldId id="698"/>
            <p14:sldId id="699"/>
            <p14:sldId id="700"/>
            <p14:sldId id="709"/>
            <p14:sldId id="710"/>
            <p14:sldId id="711"/>
          </p14:sldIdLst>
        </p14:section>
        <p14:section name="BST" id="{CB376066-9F36-4810-A3FC-B016CF65177C}">
          <p14:sldIdLst>
            <p14:sldId id="719"/>
            <p14:sldId id="720"/>
            <p14:sldId id="721"/>
            <p14:sldId id="722"/>
            <p14:sldId id="723"/>
            <p14:sldId id="725"/>
            <p14:sldId id="726"/>
            <p14:sldId id="727"/>
            <p14:sldId id="728"/>
            <p14:sldId id="729"/>
            <p14:sldId id="731"/>
            <p14:sldId id="732"/>
            <p14:sldId id="740"/>
            <p14:sldId id="741"/>
            <p14:sldId id="742"/>
            <p14:sldId id="743"/>
            <p14:sldId id="744"/>
          </p14:sldIdLst>
        </p14:section>
        <p14:section name="Summary" id="{577D266E-7C17-4E24-9DCA-A4F14D05E43A}">
          <p14:sldIdLst>
            <p14:sldId id="571"/>
            <p14:sldId id="305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D6783"/>
    <a:srgbClr val="FFA000"/>
    <a:srgbClr val="253E57"/>
    <a:srgbClr val="A3ABBC"/>
    <a:srgbClr val="F6F7F8"/>
    <a:srgbClr val="44A9F8"/>
    <a:srgbClr val="EEF0F3"/>
    <a:srgbClr val="DAE3F3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89" autoAdjust="0"/>
    <p:restoredTop sz="94620" autoAdjust="0"/>
  </p:normalViewPr>
  <p:slideViewPr>
    <p:cSldViewPr snapToGrid="0" showGuides="1">
      <p:cViewPr varScale="1">
        <p:scale>
          <a:sx n="114" d="100"/>
          <a:sy n="114" d="100"/>
        </p:scale>
        <p:origin x="348" y="10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214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528B52-FBCD-46E3-A418-496B789CC055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C761161E-196F-450A-86EF-D42C78527B97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42</a:t>
          </a:r>
        </a:p>
      </dgm:t>
    </dgm:pt>
    <dgm:pt modelId="{02FBF4F8-1FEF-45F5-943C-6B3BFDCB6D58}" type="parTrans" cxnId="{38A463A8-4129-4141-9B8E-21307428A6E1}">
      <dgm:prSet/>
      <dgm:spPr/>
      <dgm:t>
        <a:bodyPr/>
        <a:lstStyle/>
        <a:p>
          <a:endParaRPr lang="en-US"/>
        </a:p>
      </dgm:t>
    </dgm:pt>
    <dgm:pt modelId="{F98285D6-3505-465C-B282-1A8249921D0A}" type="sibTrans" cxnId="{38A463A8-4129-4141-9B8E-21307428A6E1}">
      <dgm:prSet/>
      <dgm:spPr/>
      <dgm:t>
        <a:bodyPr/>
        <a:lstStyle/>
        <a:p>
          <a:endParaRPr lang="en-US"/>
        </a:p>
      </dgm:t>
    </dgm:pt>
    <dgm:pt modelId="{07960FBF-A172-47AB-B458-FB9FB1E4E2B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69</a:t>
          </a:r>
        </a:p>
      </dgm:t>
    </dgm:pt>
    <dgm:pt modelId="{A5F1EB85-4A63-4556-B2E2-359A692F8B4D}" type="parTrans" cxnId="{DB5579CF-CFA4-49D1-8E84-B4ACD2D3F0D4}">
      <dgm:prSet/>
      <dgm:spPr/>
      <dgm:t>
        <a:bodyPr/>
        <a:lstStyle/>
        <a:p>
          <a:endParaRPr lang="en-US"/>
        </a:p>
      </dgm:t>
    </dgm:pt>
    <dgm:pt modelId="{D3C77522-38CA-4B84-8BD3-234CD3F88BD3}" type="sibTrans" cxnId="{DB5579CF-CFA4-49D1-8E84-B4ACD2D3F0D4}">
      <dgm:prSet/>
      <dgm:spPr/>
      <dgm:t>
        <a:bodyPr/>
        <a:lstStyle/>
        <a:p>
          <a:endParaRPr lang="en-US"/>
        </a:p>
      </dgm:t>
    </dgm:pt>
    <dgm:pt modelId="{1D9D1181-216F-4B72-88C0-99D29CC3AE5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13</a:t>
          </a:r>
        </a:p>
      </dgm:t>
    </dgm:pt>
    <dgm:pt modelId="{2A81B2A4-5D15-426C-9281-7F9534855AE6}" type="sibTrans" cxnId="{8CF7432E-00EE-40A0-9C4B-B65890CC5CC0}">
      <dgm:prSet/>
      <dgm:spPr/>
      <dgm:t>
        <a:bodyPr/>
        <a:lstStyle/>
        <a:p>
          <a:endParaRPr lang="en-US"/>
        </a:p>
      </dgm:t>
    </dgm:pt>
    <dgm:pt modelId="{336F7C4B-3C06-4DFE-B683-21E025804F2D}" type="parTrans" cxnId="{8CF7432E-00EE-40A0-9C4B-B65890CC5CC0}">
      <dgm:prSet/>
      <dgm:spPr/>
      <dgm:t>
        <a:bodyPr/>
        <a:lstStyle/>
        <a:p>
          <a:endParaRPr lang="en-US"/>
        </a:p>
      </dgm:t>
    </dgm:pt>
    <dgm:pt modelId="{D27CF23F-3E6A-4484-B5F2-50364BE54910}" type="pres">
      <dgm:prSet presAssocID="{33528B52-FBCD-46E3-A418-496B789CC055}" presName="CompostProcess" presStyleCnt="0">
        <dgm:presLayoutVars>
          <dgm:dir/>
          <dgm:resizeHandles val="exact"/>
        </dgm:presLayoutVars>
      </dgm:prSet>
      <dgm:spPr/>
    </dgm:pt>
    <dgm:pt modelId="{A6F38ECF-F3E6-4D05-AC63-252EF0B571A7}" type="pres">
      <dgm:prSet presAssocID="{33528B52-FBCD-46E3-A418-496B789CC055}" presName="arrow" presStyleLbl="bgShp" presStyleIdx="0" presStyleCnt="1"/>
      <dgm:spPr/>
    </dgm:pt>
    <dgm:pt modelId="{66054FC9-3BBE-41E1-A427-05F8D0FDB086}" type="pres">
      <dgm:prSet presAssocID="{33528B52-FBCD-46E3-A418-496B789CC055}" presName="linearProcess" presStyleCnt="0"/>
      <dgm:spPr/>
    </dgm:pt>
    <dgm:pt modelId="{CBE0A763-E0A9-43A8-8675-1F88003F5FA3}" type="pres">
      <dgm:prSet presAssocID="{1D9D1181-216F-4B72-88C0-99D29CC3AE51}" presName="textNode" presStyleLbl="node1" presStyleIdx="0" presStyleCnt="3">
        <dgm:presLayoutVars>
          <dgm:bulletEnabled val="1"/>
        </dgm:presLayoutVars>
      </dgm:prSet>
      <dgm:spPr/>
    </dgm:pt>
    <dgm:pt modelId="{B9BDE9DA-2B33-4532-8292-01C106290F2B}" type="pres">
      <dgm:prSet presAssocID="{2A81B2A4-5D15-426C-9281-7F9534855AE6}" presName="sibTrans" presStyleCnt="0"/>
      <dgm:spPr/>
    </dgm:pt>
    <dgm:pt modelId="{88C0CFE1-D3D6-4709-B441-13B3245ACB92}" type="pres">
      <dgm:prSet presAssocID="{C761161E-196F-450A-86EF-D42C78527B97}" presName="textNode" presStyleLbl="node1" presStyleIdx="1" presStyleCnt="3">
        <dgm:presLayoutVars>
          <dgm:bulletEnabled val="1"/>
        </dgm:presLayoutVars>
      </dgm:prSet>
      <dgm:spPr/>
    </dgm:pt>
    <dgm:pt modelId="{99CA1260-1EC8-47EE-8AC2-EFD36021AD60}" type="pres">
      <dgm:prSet presAssocID="{F98285D6-3505-465C-B282-1A8249921D0A}" presName="sibTrans" presStyleCnt="0"/>
      <dgm:spPr/>
    </dgm:pt>
    <dgm:pt modelId="{8BCA2143-DA1C-42B7-82C0-DBEA57883F74}" type="pres">
      <dgm:prSet presAssocID="{07960FBF-A172-47AB-B458-FB9FB1E4E2B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A0690100-D6BD-4C2D-B507-4F4373CFB2BD}" type="presOf" srcId="{33528B52-FBCD-46E3-A418-496B789CC055}" destId="{D27CF23F-3E6A-4484-B5F2-50364BE54910}" srcOrd="0" destOrd="0" presId="urn:microsoft.com/office/officeart/2005/8/layout/hProcess9"/>
    <dgm:cxn modelId="{8CF7432E-00EE-40A0-9C4B-B65890CC5CC0}" srcId="{33528B52-FBCD-46E3-A418-496B789CC055}" destId="{1D9D1181-216F-4B72-88C0-99D29CC3AE51}" srcOrd="0" destOrd="0" parTransId="{336F7C4B-3C06-4DFE-B683-21E025804F2D}" sibTransId="{2A81B2A4-5D15-426C-9281-7F9534855AE6}"/>
    <dgm:cxn modelId="{91ED906B-7DFB-48D0-BBBE-115615D0A5AE}" type="presOf" srcId="{C761161E-196F-450A-86EF-D42C78527B97}" destId="{88C0CFE1-D3D6-4709-B441-13B3245ACB92}" srcOrd="0" destOrd="0" presId="urn:microsoft.com/office/officeart/2005/8/layout/hProcess9"/>
    <dgm:cxn modelId="{90C74856-9EF2-4410-82AF-5343DCA60A25}" type="presOf" srcId="{07960FBF-A172-47AB-B458-FB9FB1E4E2B1}" destId="{8BCA2143-DA1C-42B7-82C0-DBEA57883F74}" srcOrd="0" destOrd="0" presId="urn:microsoft.com/office/officeart/2005/8/layout/hProcess9"/>
    <dgm:cxn modelId="{AB1A8C83-3F44-4FCB-9DE2-5BA750D56B94}" type="presOf" srcId="{1D9D1181-216F-4B72-88C0-99D29CC3AE51}" destId="{CBE0A763-E0A9-43A8-8675-1F88003F5FA3}" srcOrd="0" destOrd="0" presId="urn:microsoft.com/office/officeart/2005/8/layout/hProcess9"/>
    <dgm:cxn modelId="{38A463A8-4129-4141-9B8E-21307428A6E1}" srcId="{33528B52-FBCD-46E3-A418-496B789CC055}" destId="{C761161E-196F-450A-86EF-D42C78527B97}" srcOrd="1" destOrd="0" parTransId="{02FBF4F8-1FEF-45F5-943C-6B3BFDCB6D58}" sibTransId="{F98285D6-3505-465C-B282-1A8249921D0A}"/>
    <dgm:cxn modelId="{DB5579CF-CFA4-49D1-8E84-B4ACD2D3F0D4}" srcId="{33528B52-FBCD-46E3-A418-496B789CC055}" destId="{07960FBF-A172-47AB-B458-FB9FB1E4E2B1}" srcOrd="2" destOrd="0" parTransId="{A5F1EB85-4A63-4556-B2E2-359A692F8B4D}" sibTransId="{D3C77522-38CA-4B84-8BD3-234CD3F88BD3}"/>
    <dgm:cxn modelId="{52D42FE8-4D62-46E9-98F8-E52AE6E0806C}" type="presParOf" srcId="{D27CF23F-3E6A-4484-B5F2-50364BE54910}" destId="{A6F38ECF-F3E6-4D05-AC63-252EF0B571A7}" srcOrd="0" destOrd="0" presId="urn:microsoft.com/office/officeart/2005/8/layout/hProcess9"/>
    <dgm:cxn modelId="{C5959B59-FF64-45D7-A74F-942F38DB0B82}" type="presParOf" srcId="{D27CF23F-3E6A-4484-B5F2-50364BE54910}" destId="{66054FC9-3BBE-41E1-A427-05F8D0FDB086}" srcOrd="1" destOrd="0" presId="urn:microsoft.com/office/officeart/2005/8/layout/hProcess9"/>
    <dgm:cxn modelId="{F509A088-85A8-412C-A4C8-7B8B05B85B4A}" type="presParOf" srcId="{66054FC9-3BBE-41E1-A427-05F8D0FDB086}" destId="{CBE0A763-E0A9-43A8-8675-1F88003F5FA3}" srcOrd="0" destOrd="0" presId="urn:microsoft.com/office/officeart/2005/8/layout/hProcess9"/>
    <dgm:cxn modelId="{C8A9FCB4-670D-495B-8010-DB30542A9313}" type="presParOf" srcId="{66054FC9-3BBE-41E1-A427-05F8D0FDB086}" destId="{B9BDE9DA-2B33-4532-8292-01C106290F2B}" srcOrd="1" destOrd="0" presId="urn:microsoft.com/office/officeart/2005/8/layout/hProcess9"/>
    <dgm:cxn modelId="{33378F92-CD2A-4F97-9C1A-883770919A0A}" type="presParOf" srcId="{66054FC9-3BBE-41E1-A427-05F8D0FDB086}" destId="{88C0CFE1-D3D6-4709-B441-13B3245ACB92}" srcOrd="2" destOrd="0" presId="urn:microsoft.com/office/officeart/2005/8/layout/hProcess9"/>
    <dgm:cxn modelId="{EB18D315-F8E0-4E20-B5A4-498AFE71CA16}" type="presParOf" srcId="{66054FC9-3BBE-41E1-A427-05F8D0FDB086}" destId="{99CA1260-1EC8-47EE-8AC2-EFD36021AD60}" srcOrd="3" destOrd="0" presId="urn:microsoft.com/office/officeart/2005/8/layout/hProcess9"/>
    <dgm:cxn modelId="{5528C165-56A9-4763-8D68-DDABE4654544}" type="presParOf" srcId="{66054FC9-3BBE-41E1-A427-05F8D0FDB086}" destId="{8BCA2143-DA1C-42B7-82C0-DBEA57883F7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528B52-FBCD-46E3-A418-496B789CC055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1D9D1181-216F-4B72-88C0-99D29CC3AE5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13</a:t>
          </a:r>
        </a:p>
      </dgm:t>
    </dgm:pt>
    <dgm:pt modelId="{336F7C4B-3C06-4DFE-B683-21E025804F2D}" type="parTrans" cxnId="{8CF7432E-00EE-40A0-9C4B-B65890CC5CC0}">
      <dgm:prSet/>
      <dgm:spPr/>
      <dgm:t>
        <a:bodyPr/>
        <a:lstStyle/>
        <a:p>
          <a:endParaRPr lang="en-US"/>
        </a:p>
      </dgm:t>
    </dgm:pt>
    <dgm:pt modelId="{2A81B2A4-5D15-426C-9281-7F9534855AE6}" type="sibTrans" cxnId="{8CF7432E-00EE-40A0-9C4B-B65890CC5CC0}">
      <dgm:prSet/>
      <dgm:spPr/>
      <dgm:t>
        <a:bodyPr/>
        <a:lstStyle/>
        <a:p>
          <a:endParaRPr lang="en-US"/>
        </a:p>
      </dgm:t>
    </dgm:pt>
    <dgm:pt modelId="{C761161E-196F-450A-86EF-D42C78527B97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42</a:t>
          </a:r>
        </a:p>
      </dgm:t>
    </dgm:pt>
    <dgm:pt modelId="{02FBF4F8-1FEF-45F5-943C-6B3BFDCB6D58}" type="parTrans" cxnId="{38A463A8-4129-4141-9B8E-21307428A6E1}">
      <dgm:prSet/>
      <dgm:spPr/>
      <dgm:t>
        <a:bodyPr/>
        <a:lstStyle/>
        <a:p>
          <a:endParaRPr lang="en-US"/>
        </a:p>
      </dgm:t>
    </dgm:pt>
    <dgm:pt modelId="{F98285D6-3505-465C-B282-1A8249921D0A}" type="sibTrans" cxnId="{38A463A8-4129-4141-9B8E-21307428A6E1}">
      <dgm:prSet/>
      <dgm:spPr/>
      <dgm:t>
        <a:bodyPr/>
        <a:lstStyle/>
        <a:p>
          <a:endParaRPr lang="en-US"/>
        </a:p>
      </dgm:t>
    </dgm:pt>
    <dgm:pt modelId="{07960FBF-A172-47AB-B458-FB9FB1E4E2B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69</a:t>
          </a:r>
        </a:p>
      </dgm:t>
    </dgm:pt>
    <dgm:pt modelId="{A5F1EB85-4A63-4556-B2E2-359A692F8B4D}" type="parTrans" cxnId="{DB5579CF-CFA4-49D1-8E84-B4ACD2D3F0D4}">
      <dgm:prSet/>
      <dgm:spPr/>
      <dgm:t>
        <a:bodyPr/>
        <a:lstStyle/>
        <a:p>
          <a:endParaRPr lang="en-US"/>
        </a:p>
      </dgm:t>
    </dgm:pt>
    <dgm:pt modelId="{D3C77522-38CA-4B84-8BD3-234CD3F88BD3}" type="sibTrans" cxnId="{DB5579CF-CFA4-49D1-8E84-B4ACD2D3F0D4}">
      <dgm:prSet/>
      <dgm:spPr/>
      <dgm:t>
        <a:bodyPr/>
        <a:lstStyle/>
        <a:p>
          <a:endParaRPr lang="en-US"/>
        </a:p>
      </dgm:t>
    </dgm:pt>
    <dgm:pt modelId="{D27CF23F-3E6A-4484-B5F2-50364BE54910}" type="pres">
      <dgm:prSet presAssocID="{33528B52-FBCD-46E3-A418-496B789CC055}" presName="CompostProcess" presStyleCnt="0">
        <dgm:presLayoutVars>
          <dgm:dir/>
          <dgm:resizeHandles val="exact"/>
        </dgm:presLayoutVars>
      </dgm:prSet>
      <dgm:spPr/>
    </dgm:pt>
    <dgm:pt modelId="{A6F38ECF-F3E6-4D05-AC63-252EF0B571A7}" type="pres">
      <dgm:prSet presAssocID="{33528B52-FBCD-46E3-A418-496B789CC055}" presName="arrow" presStyleLbl="bgShp" presStyleIdx="0" presStyleCnt="1"/>
      <dgm:spPr/>
    </dgm:pt>
    <dgm:pt modelId="{66054FC9-3BBE-41E1-A427-05F8D0FDB086}" type="pres">
      <dgm:prSet presAssocID="{33528B52-FBCD-46E3-A418-496B789CC055}" presName="linearProcess" presStyleCnt="0"/>
      <dgm:spPr/>
    </dgm:pt>
    <dgm:pt modelId="{CBE0A763-E0A9-43A8-8675-1F88003F5FA3}" type="pres">
      <dgm:prSet presAssocID="{1D9D1181-216F-4B72-88C0-99D29CC3AE51}" presName="textNode" presStyleLbl="node1" presStyleIdx="0" presStyleCnt="3">
        <dgm:presLayoutVars>
          <dgm:bulletEnabled val="1"/>
        </dgm:presLayoutVars>
      </dgm:prSet>
      <dgm:spPr/>
    </dgm:pt>
    <dgm:pt modelId="{B9BDE9DA-2B33-4532-8292-01C106290F2B}" type="pres">
      <dgm:prSet presAssocID="{2A81B2A4-5D15-426C-9281-7F9534855AE6}" presName="sibTrans" presStyleCnt="0"/>
      <dgm:spPr/>
    </dgm:pt>
    <dgm:pt modelId="{88C0CFE1-D3D6-4709-B441-13B3245ACB92}" type="pres">
      <dgm:prSet presAssocID="{C761161E-196F-450A-86EF-D42C78527B97}" presName="textNode" presStyleLbl="node1" presStyleIdx="1" presStyleCnt="3">
        <dgm:presLayoutVars>
          <dgm:bulletEnabled val="1"/>
        </dgm:presLayoutVars>
      </dgm:prSet>
      <dgm:spPr/>
    </dgm:pt>
    <dgm:pt modelId="{99CA1260-1EC8-47EE-8AC2-EFD36021AD60}" type="pres">
      <dgm:prSet presAssocID="{F98285D6-3505-465C-B282-1A8249921D0A}" presName="sibTrans" presStyleCnt="0"/>
      <dgm:spPr/>
    </dgm:pt>
    <dgm:pt modelId="{8BCA2143-DA1C-42B7-82C0-DBEA57883F74}" type="pres">
      <dgm:prSet presAssocID="{07960FBF-A172-47AB-B458-FB9FB1E4E2B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A0690100-D6BD-4C2D-B507-4F4373CFB2BD}" type="presOf" srcId="{33528B52-FBCD-46E3-A418-496B789CC055}" destId="{D27CF23F-3E6A-4484-B5F2-50364BE54910}" srcOrd="0" destOrd="0" presId="urn:microsoft.com/office/officeart/2005/8/layout/hProcess9"/>
    <dgm:cxn modelId="{8CF7432E-00EE-40A0-9C4B-B65890CC5CC0}" srcId="{33528B52-FBCD-46E3-A418-496B789CC055}" destId="{1D9D1181-216F-4B72-88C0-99D29CC3AE51}" srcOrd="0" destOrd="0" parTransId="{336F7C4B-3C06-4DFE-B683-21E025804F2D}" sibTransId="{2A81B2A4-5D15-426C-9281-7F9534855AE6}"/>
    <dgm:cxn modelId="{91ED906B-7DFB-48D0-BBBE-115615D0A5AE}" type="presOf" srcId="{C761161E-196F-450A-86EF-D42C78527B97}" destId="{88C0CFE1-D3D6-4709-B441-13B3245ACB92}" srcOrd="0" destOrd="0" presId="urn:microsoft.com/office/officeart/2005/8/layout/hProcess9"/>
    <dgm:cxn modelId="{90C74856-9EF2-4410-82AF-5343DCA60A25}" type="presOf" srcId="{07960FBF-A172-47AB-B458-FB9FB1E4E2B1}" destId="{8BCA2143-DA1C-42B7-82C0-DBEA57883F74}" srcOrd="0" destOrd="0" presId="urn:microsoft.com/office/officeart/2005/8/layout/hProcess9"/>
    <dgm:cxn modelId="{AB1A8C83-3F44-4FCB-9DE2-5BA750D56B94}" type="presOf" srcId="{1D9D1181-216F-4B72-88C0-99D29CC3AE51}" destId="{CBE0A763-E0A9-43A8-8675-1F88003F5FA3}" srcOrd="0" destOrd="0" presId="urn:microsoft.com/office/officeart/2005/8/layout/hProcess9"/>
    <dgm:cxn modelId="{38A463A8-4129-4141-9B8E-21307428A6E1}" srcId="{33528B52-FBCD-46E3-A418-496B789CC055}" destId="{C761161E-196F-450A-86EF-D42C78527B97}" srcOrd="1" destOrd="0" parTransId="{02FBF4F8-1FEF-45F5-943C-6B3BFDCB6D58}" sibTransId="{F98285D6-3505-465C-B282-1A8249921D0A}"/>
    <dgm:cxn modelId="{DB5579CF-CFA4-49D1-8E84-B4ACD2D3F0D4}" srcId="{33528B52-FBCD-46E3-A418-496B789CC055}" destId="{07960FBF-A172-47AB-B458-FB9FB1E4E2B1}" srcOrd="2" destOrd="0" parTransId="{A5F1EB85-4A63-4556-B2E2-359A692F8B4D}" sibTransId="{D3C77522-38CA-4B84-8BD3-234CD3F88BD3}"/>
    <dgm:cxn modelId="{52D42FE8-4D62-46E9-98F8-E52AE6E0806C}" type="presParOf" srcId="{D27CF23F-3E6A-4484-B5F2-50364BE54910}" destId="{A6F38ECF-F3E6-4D05-AC63-252EF0B571A7}" srcOrd="0" destOrd="0" presId="urn:microsoft.com/office/officeart/2005/8/layout/hProcess9"/>
    <dgm:cxn modelId="{C5959B59-FF64-45D7-A74F-942F38DB0B82}" type="presParOf" srcId="{D27CF23F-3E6A-4484-B5F2-50364BE54910}" destId="{66054FC9-3BBE-41E1-A427-05F8D0FDB086}" srcOrd="1" destOrd="0" presId="urn:microsoft.com/office/officeart/2005/8/layout/hProcess9"/>
    <dgm:cxn modelId="{F509A088-85A8-412C-A4C8-7B8B05B85B4A}" type="presParOf" srcId="{66054FC9-3BBE-41E1-A427-05F8D0FDB086}" destId="{CBE0A763-E0A9-43A8-8675-1F88003F5FA3}" srcOrd="0" destOrd="0" presId="urn:microsoft.com/office/officeart/2005/8/layout/hProcess9"/>
    <dgm:cxn modelId="{C8A9FCB4-670D-495B-8010-DB30542A9313}" type="presParOf" srcId="{66054FC9-3BBE-41E1-A427-05F8D0FDB086}" destId="{B9BDE9DA-2B33-4532-8292-01C106290F2B}" srcOrd="1" destOrd="0" presId="urn:microsoft.com/office/officeart/2005/8/layout/hProcess9"/>
    <dgm:cxn modelId="{33378F92-CD2A-4F97-9C1A-883770919A0A}" type="presParOf" srcId="{66054FC9-3BBE-41E1-A427-05F8D0FDB086}" destId="{88C0CFE1-D3D6-4709-B441-13B3245ACB92}" srcOrd="2" destOrd="0" presId="urn:microsoft.com/office/officeart/2005/8/layout/hProcess9"/>
    <dgm:cxn modelId="{EB18D315-F8E0-4E20-B5A4-498AFE71CA16}" type="presParOf" srcId="{66054FC9-3BBE-41E1-A427-05F8D0FDB086}" destId="{99CA1260-1EC8-47EE-8AC2-EFD36021AD60}" srcOrd="3" destOrd="0" presId="urn:microsoft.com/office/officeart/2005/8/layout/hProcess9"/>
    <dgm:cxn modelId="{5528C165-56A9-4763-8D68-DDABE4654544}" type="presParOf" srcId="{66054FC9-3BBE-41E1-A427-05F8D0FDB086}" destId="{8BCA2143-DA1C-42B7-82C0-DBEA57883F7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BC14FE-FB84-4613-A605-4C2E29B07925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CC6659-AB35-4B2A-9B70-DE4A28057AC0}">
      <dgm:prSet phldrT="[Text]" phldr="1"/>
      <dgm:spPr/>
      <dgm:t>
        <a:bodyPr/>
        <a:lstStyle/>
        <a:p>
          <a:endParaRPr lang="en-US" dirty="0"/>
        </a:p>
      </dgm:t>
    </dgm:pt>
    <dgm:pt modelId="{B2109459-903B-4E39-9B2A-DF17ED1DD12A}" type="parTrans" cxnId="{337C5CE1-7650-4810-90A2-F7913A9A7FC6}">
      <dgm:prSet/>
      <dgm:spPr/>
      <dgm:t>
        <a:bodyPr/>
        <a:lstStyle/>
        <a:p>
          <a:endParaRPr lang="en-US"/>
        </a:p>
      </dgm:t>
    </dgm:pt>
    <dgm:pt modelId="{D73369C5-43D2-4A7C-8085-02B316E9AB1B}" type="sibTrans" cxnId="{337C5CE1-7650-4810-90A2-F7913A9A7FC6}">
      <dgm:prSet/>
      <dgm:spPr/>
      <dgm:t>
        <a:bodyPr/>
        <a:lstStyle/>
        <a:p>
          <a:endParaRPr lang="en-US"/>
        </a:p>
      </dgm:t>
    </dgm:pt>
    <dgm:pt modelId="{4FAD6957-3F8C-439A-8B38-658E59B57F94}">
      <dgm:prSet phldrT="[Text]" phldr="1"/>
      <dgm:spPr/>
      <dgm:t>
        <a:bodyPr/>
        <a:lstStyle/>
        <a:p>
          <a:endParaRPr lang="en-US"/>
        </a:p>
      </dgm:t>
    </dgm:pt>
    <dgm:pt modelId="{84158E8A-D2DD-4FAA-853E-90B2017CCEF9}" type="parTrans" cxnId="{A2E944D9-5C8D-49FA-8BF8-21F8B071E8DB}">
      <dgm:prSet/>
      <dgm:spPr/>
      <dgm:t>
        <a:bodyPr/>
        <a:lstStyle/>
        <a:p>
          <a:endParaRPr lang="en-US"/>
        </a:p>
      </dgm:t>
    </dgm:pt>
    <dgm:pt modelId="{81B62400-06A4-4EBF-ACE5-1B90F6D24180}" type="sibTrans" cxnId="{A2E944D9-5C8D-49FA-8BF8-21F8B071E8DB}">
      <dgm:prSet/>
      <dgm:spPr/>
      <dgm:t>
        <a:bodyPr/>
        <a:lstStyle/>
        <a:p>
          <a:endParaRPr lang="en-US"/>
        </a:p>
      </dgm:t>
    </dgm:pt>
    <dgm:pt modelId="{9B8CE23B-E2C9-4182-89AB-51D09B9D0000}">
      <dgm:prSet phldrT="[Text]" phldr="1"/>
      <dgm:spPr/>
      <dgm:t>
        <a:bodyPr/>
        <a:lstStyle/>
        <a:p>
          <a:endParaRPr lang="en-US"/>
        </a:p>
      </dgm:t>
    </dgm:pt>
    <dgm:pt modelId="{CA548C71-DDB6-476C-89B6-233C6735790D}" type="parTrans" cxnId="{258197AF-12E0-4F98-A964-CBB798206747}">
      <dgm:prSet/>
      <dgm:spPr/>
      <dgm:t>
        <a:bodyPr/>
        <a:lstStyle/>
        <a:p>
          <a:endParaRPr lang="en-US"/>
        </a:p>
      </dgm:t>
    </dgm:pt>
    <dgm:pt modelId="{A134991B-9557-4CEF-96BA-F46707E471BC}" type="sibTrans" cxnId="{258197AF-12E0-4F98-A964-CBB798206747}">
      <dgm:prSet/>
      <dgm:spPr/>
      <dgm:t>
        <a:bodyPr/>
        <a:lstStyle/>
        <a:p>
          <a:endParaRPr lang="en-US"/>
        </a:p>
      </dgm:t>
    </dgm:pt>
    <dgm:pt modelId="{38803947-B1D6-4E38-A3C2-D4B767497EE0}">
      <dgm:prSet phldrT="[Text]" phldr="1"/>
      <dgm:spPr/>
      <dgm:t>
        <a:bodyPr/>
        <a:lstStyle/>
        <a:p>
          <a:endParaRPr lang="en-US"/>
        </a:p>
      </dgm:t>
    </dgm:pt>
    <dgm:pt modelId="{F899AE1A-65F7-466F-96CA-18FE10B03991}" type="parTrans" cxnId="{20EF0FD8-82D2-46ED-9C34-E5CFA3B61195}">
      <dgm:prSet/>
      <dgm:spPr/>
      <dgm:t>
        <a:bodyPr/>
        <a:lstStyle/>
        <a:p>
          <a:endParaRPr lang="en-US"/>
        </a:p>
      </dgm:t>
    </dgm:pt>
    <dgm:pt modelId="{2F578E44-FBB8-4492-84D1-DBF97CF4EBB2}" type="sibTrans" cxnId="{20EF0FD8-82D2-46ED-9C34-E5CFA3B61195}">
      <dgm:prSet/>
      <dgm:spPr/>
      <dgm:t>
        <a:bodyPr/>
        <a:lstStyle/>
        <a:p>
          <a:endParaRPr lang="en-US"/>
        </a:p>
      </dgm:t>
    </dgm:pt>
    <dgm:pt modelId="{C6B80C41-F2DE-49C4-BDF8-7935A21F2276}">
      <dgm:prSet phldrT="[Text]" phldr="1"/>
      <dgm:spPr/>
      <dgm:t>
        <a:bodyPr/>
        <a:lstStyle/>
        <a:p>
          <a:endParaRPr lang="en-US" dirty="0"/>
        </a:p>
      </dgm:t>
    </dgm:pt>
    <dgm:pt modelId="{4EDCCE5F-09F6-4D04-B123-DC66490B6112}" type="sibTrans" cxnId="{B1B1D8BB-A099-4F70-BACD-61E41BAA433B}">
      <dgm:prSet/>
      <dgm:spPr/>
      <dgm:t>
        <a:bodyPr/>
        <a:lstStyle/>
        <a:p>
          <a:endParaRPr lang="en-US"/>
        </a:p>
      </dgm:t>
    </dgm:pt>
    <dgm:pt modelId="{56F059AD-F9B3-4963-A592-475CE16945DB}" type="parTrans" cxnId="{B1B1D8BB-A099-4F70-BACD-61E41BAA433B}">
      <dgm:prSet/>
      <dgm:spPr/>
      <dgm:t>
        <a:bodyPr/>
        <a:lstStyle/>
        <a:p>
          <a:endParaRPr lang="en-US"/>
        </a:p>
      </dgm:t>
    </dgm:pt>
    <dgm:pt modelId="{3A769F8D-9241-4D98-A6E1-FC4CBE19B687}" type="pres">
      <dgm:prSet presAssocID="{61BC14FE-FB84-4613-A605-4C2E29B079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529005-4E72-4D13-8BC6-82B159CEFE1D}" type="pres">
      <dgm:prSet presAssocID="{B0CC6659-AB35-4B2A-9B70-DE4A28057AC0}" presName="hierRoot1" presStyleCnt="0"/>
      <dgm:spPr/>
    </dgm:pt>
    <dgm:pt modelId="{A18027E0-2429-40F0-AFC0-DA16B34EB151}" type="pres">
      <dgm:prSet presAssocID="{B0CC6659-AB35-4B2A-9B70-DE4A28057AC0}" presName="composite" presStyleCnt="0"/>
      <dgm:spPr/>
    </dgm:pt>
    <dgm:pt modelId="{22EA4494-A503-438A-AE8A-23865EB21B85}" type="pres">
      <dgm:prSet presAssocID="{B0CC6659-AB35-4B2A-9B70-DE4A28057AC0}" presName="image" presStyleLbl="node0" presStyleIdx="0" presStyleCnt="1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</dgm:spPr>
    </dgm:pt>
    <dgm:pt modelId="{56354901-CF07-43BC-BBAE-6DD4B352E6B4}" type="pres">
      <dgm:prSet presAssocID="{B0CC6659-AB35-4B2A-9B70-DE4A28057AC0}" presName="text" presStyleLbl="revTx" presStyleIdx="0" presStyleCnt="5">
        <dgm:presLayoutVars>
          <dgm:chPref val="3"/>
        </dgm:presLayoutVars>
      </dgm:prSet>
      <dgm:spPr/>
    </dgm:pt>
    <dgm:pt modelId="{C5D6CD09-0DF4-4C6F-82C5-2EBE30880751}" type="pres">
      <dgm:prSet presAssocID="{B0CC6659-AB35-4B2A-9B70-DE4A28057AC0}" presName="hierChild2" presStyleCnt="0"/>
      <dgm:spPr/>
    </dgm:pt>
    <dgm:pt modelId="{7A3CD863-2B20-481C-839C-0ACD14F545A1}" type="pres">
      <dgm:prSet presAssocID="{84158E8A-D2DD-4FAA-853E-90B2017CCEF9}" presName="Name10" presStyleLbl="parChTrans1D2" presStyleIdx="0" presStyleCnt="2"/>
      <dgm:spPr/>
    </dgm:pt>
    <dgm:pt modelId="{4091E04A-A233-42D4-9447-B8B015967B4E}" type="pres">
      <dgm:prSet presAssocID="{4FAD6957-3F8C-439A-8B38-658E59B57F94}" presName="hierRoot2" presStyleCnt="0"/>
      <dgm:spPr/>
    </dgm:pt>
    <dgm:pt modelId="{20F10923-C199-4BE5-90FD-0C8EF26B358C}" type="pres">
      <dgm:prSet presAssocID="{4FAD6957-3F8C-439A-8B38-658E59B57F94}" presName="composite2" presStyleCnt="0"/>
      <dgm:spPr/>
    </dgm:pt>
    <dgm:pt modelId="{E3199327-2010-4124-95C4-6DEA3C6A85B6}" type="pres">
      <dgm:prSet presAssocID="{4FAD6957-3F8C-439A-8B38-658E59B57F94}" presName="image2" presStyleLbl="node2" presStyleIdx="0" presStyleCnt="2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</dgm:spPr>
    </dgm:pt>
    <dgm:pt modelId="{6C81D741-A613-4715-809D-45CB4E3EAB42}" type="pres">
      <dgm:prSet presAssocID="{4FAD6957-3F8C-439A-8B38-658E59B57F94}" presName="text2" presStyleLbl="revTx" presStyleIdx="1" presStyleCnt="5">
        <dgm:presLayoutVars>
          <dgm:chPref val="3"/>
        </dgm:presLayoutVars>
      </dgm:prSet>
      <dgm:spPr/>
    </dgm:pt>
    <dgm:pt modelId="{6828BA3F-5B17-4B63-B985-03ABCB20CF53}" type="pres">
      <dgm:prSet presAssocID="{4FAD6957-3F8C-439A-8B38-658E59B57F94}" presName="hierChild3" presStyleCnt="0"/>
      <dgm:spPr/>
    </dgm:pt>
    <dgm:pt modelId="{BFCE65FF-8CCD-408F-8891-6B1BD5DB978E}" type="pres">
      <dgm:prSet presAssocID="{CA548C71-DDB6-476C-89B6-233C6735790D}" presName="Name17" presStyleLbl="parChTrans1D3" presStyleIdx="0" presStyleCnt="2"/>
      <dgm:spPr/>
    </dgm:pt>
    <dgm:pt modelId="{A43E8A4C-0A85-4D05-968E-3CA6EF912FC2}" type="pres">
      <dgm:prSet presAssocID="{9B8CE23B-E2C9-4182-89AB-51D09B9D0000}" presName="hierRoot3" presStyleCnt="0"/>
      <dgm:spPr/>
    </dgm:pt>
    <dgm:pt modelId="{2EBD5AFA-EB37-445F-95CB-749DAA4784BD}" type="pres">
      <dgm:prSet presAssocID="{9B8CE23B-E2C9-4182-89AB-51D09B9D0000}" presName="composite3" presStyleCnt="0"/>
      <dgm:spPr/>
    </dgm:pt>
    <dgm:pt modelId="{5634A969-9C00-4281-B383-B98DE2DB17D6}" type="pres">
      <dgm:prSet presAssocID="{9B8CE23B-E2C9-4182-89AB-51D09B9D0000}" presName="image3" presStyleLbl="node3" presStyleIdx="0" presStyleCnt="2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</dgm:spPr>
    </dgm:pt>
    <dgm:pt modelId="{CD33DE6A-02CA-4252-B8BF-85CA59773001}" type="pres">
      <dgm:prSet presAssocID="{9B8CE23B-E2C9-4182-89AB-51D09B9D0000}" presName="text3" presStyleLbl="revTx" presStyleIdx="2" presStyleCnt="5">
        <dgm:presLayoutVars>
          <dgm:chPref val="3"/>
        </dgm:presLayoutVars>
      </dgm:prSet>
      <dgm:spPr/>
    </dgm:pt>
    <dgm:pt modelId="{B51AE847-11A7-468D-88F7-153B8B0235E0}" type="pres">
      <dgm:prSet presAssocID="{9B8CE23B-E2C9-4182-89AB-51D09B9D0000}" presName="hierChild4" presStyleCnt="0"/>
      <dgm:spPr/>
    </dgm:pt>
    <dgm:pt modelId="{EA6F8E45-1D47-467D-B9F2-EA79A5A5C9AB}" type="pres">
      <dgm:prSet presAssocID="{F899AE1A-65F7-466F-96CA-18FE10B03991}" presName="Name17" presStyleLbl="parChTrans1D3" presStyleIdx="1" presStyleCnt="2"/>
      <dgm:spPr/>
    </dgm:pt>
    <dgm:pt modelId="{77D36C26-E192-4E3E-83F4-7582AA75425A}" type="pres">
      <dgm:prSet presAssocID="{38803947-B1D6-4E38-A3C2-D4B767497EE0}" presName="hierRoot3" presStyleCnt="0"/>
      <dgm:spPr/>
    </dgm:pt>
    <dgm:pt modelId="{5C532C92-4CF1-429F-A922-F492D9E247CD}" type="pres">
      <dgm:prSet presAssocID="{38803947-B1D6-4E38-A3C2-D4B767497EE0}" presName="composite3" presStyleCnt="0"/>
      <dgm:spPr/>
    </dgm:pt>
    <dgm:pt modelId="{512AC827-47A0-480A-AEDA-CF7DB040785E}" type="pres">
      <dgm:prSet presAssocID="{38803947-B1D6-4E38-A3C2-D4B767497EE0}" presName="image3" presStyleLbl="node3" presStyleIdx="1" presStyleCnt="2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</dgm:spPr>
    </dgm:pt>
    <dgm:pt modelId="{FF5120EB-B889-4CA9-989F-37F206DB3FE1}" type="pres">
      <dgm:prSet presAssocID="{38803947-B1D6-4E38-A3C2-D4B767497EE0}" presName="text3" presStyleLbl="revTx" presStyleIdx="3" presStyleCnt="5">
        <dgm:presLayoutVars>
          <dgm:chPref val="3"/>
        </dgm:presLayoutVars>
      </dgm:prSet>
      <dgm:spPr/>
    </dgm:pt>
    <dgm:pt modelId="{6BDA7EE7-1B54-445D-861C-BB76CD4B96F6}" type="pres">
      <dgm:prSet presAssocID="{38803947-B1D6-4E38-A3C2-D4B767497EE0}" presName="hierChild4" presStyleCnt="0"/>
      <dgm:spPr/>
    </dgm:pt>
    <dgm:pt modelId="{6C2EC84D-9191-48C6-90F0-BBE3AF76A463}" type="pres">
      <dgm:prSet presAssocID="{56F059AD-F9B3-4963-A592-475CE16945DB}" presName="Name10" presStyleLbl="parChTrans1D2" presStyleIdx="1" presStyleCnt="2"/>
      <dgm:spPr/>
    </dgm:pt>
    <dgm:pt modelId="{020C7379-7A73-49DD-9B8E-8BF5D6DDEA51}" type="pres">
      <dgm:prSet presAssocID="{C6B80C41-F2DE-49C4-BDF8-7935A21F2276}" presName="hierRoot2" presStyleCnt="0"/>
      <dgm:spPr/>
    </dgm:pt>
    <dgm:pt modelId="{7368190E-F935-4774-8D04-3C86C0130385}" type="pres">
      <dgm:prSet presAssocID="{C6B80C41-F2DE-49C4-BDF8-7935A21F2276}" presName="composite2" presStyleCnt="0"/>
      <dgm:spPr/>
    </dgm:pt>
    <dgm:pt modelId="{5E31D797-474F-42DA-B41B-DA0EC94C5654}" type="pres">
      <dgm:prSet presAssocID="{C6B80C41-F2DE-49C4-BDF8-7935A21F2276}" presName="image2" presStyleLbl="node2" presStyleIdx="1" presStyleCnt="2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</dgm:spPr>
    </dgm:pt>
    <dgm:pt modelId="{5933E2F7-224E-4DEA-870E-A4D31F92ACB4}" type="pres">
      <dgm:prSet presAssocID="{C6B80C41-F2DE-49C4-BDF8-7935A21F2276}" presName="text2" presStyleLbl="revTx" presStyleIdx="4" presStyleCnt="5" custLinFactNeighborX="-49279" custLinFactNeighborY="99790">
        <dgm:presLayoutVars>
          <dgm:chPref val="3"/>
        </dgm:presLayoutVars>
      </dgm:prSet>
      <dgm:spPr/>
    </dgm:pt>
    <dgm:pt modelId="{A31C6DC7-E8AA-497F-97B3-A58277DDAB30}" type="pres">
      <dgm:prSet presAssocID="{C6B80C41-F2DE-49C4-BDF8-7935A21F2276}" presName="hierChild3" presStyleCnt="0"/>
      <dgm:spPr/>
    </dgm:pt>
  </dgm:ptLst>
  <dgm:cxnLst>
    <dgm:cxn modelId="{3E2E2315-F12C-403B-B155-B2D6A76BECCC}" type="presOf" srcId="{F899AE1A-65F7-466F-96CA-18FE10B03991}" destId="{EA6F8E45-1D47-467D-B9F2-EA79A5A5C9AB}" srcOrd="0" destOrd="0" presId="urn:microsoft.com/office/officeart/2009/layout/CirclePictureHierarchy"/>
    <dgm:cxn modelId="{D750CA15-FD88-43CE-83F5-D814C306E81C}" type="presOf" srcId="{61BC14FE-FB84-4613-A605-4C2E29B07925}" destId="{3A769F8D-9241-4D98-A6E1-FC4CBE19B687}" srcOrd="0" destOrd="0" presId="urn:microsoft.com/office/officeart/2009/layout/CirclePictureHierarchy"/>
    <dgm:cxn modelId="{6EB7151E-629C-41CF-B1E1-53BBB16F97A8}" type="presOf" srcId="{B0CC6659-AB35-4B2A-9B70-DE4A28057AC0}" destId="{56354901-CF07-43BC-BBAE-6DD4B352E6B4}" srcOrd="0" destOrd="0" presId="urn:microsoft.com/office/officeart/2009/layout/CirclePictureHierarchy"/>
    <dgm:cxn modelId="{897C2768-8DEB-42A3-AB4E-B72369303910}" type="presOf" srcId="{84158E8A-D2DD-4FAA-853E-90B2017CCEF9}" destId="{7A3CD863-2B20-481C-839C-0ACD14F545A1}" srcOrd="0" destOrd="0" presId="urn:microsoft.com/office/officeart/2009/layout/CirclePictureHierarchy"/>
    <dgm:cxn modelId="{2527FC8F-7401-474D-960E-0D9A8DA2DCF7}" type="presOf" srcId="{56F059AD-F9B3-4963-A592-475CE16945DB}" destId="{6C2EC84D-9191-48C6-90F0-BBE3AF76A463}" srcOrd="0" destOrd="0" presId="urn:microsoft.com/office/officeart/2009/layout/CirclePictureHierarchy"/>
    <dgm:cxn modelId="{2A568CA4-573B-4185-9B42-0280B33588CB}" type="presOf" srcId="{CA548C71-DDB6-476C-89B6-233C6735790D}" destId="{BFCE65FF-8CCD-408F-8891-6B1BD5DB978E}" srcOrd="0" destOrd="0" presId="urn:microsoft.com/office/officeart/2009/layout/CirclePictureHierarchy"/>
    <dgm:cxn modelId="{258197AF-12E0-4F98-A964-CBB798206747}" srcId="{4FAD6957-3F8C-439A-8B38-658E59B57F94}" destId="{9B8CE23B-E2C9-4182-89AB-51D09B9D0000}" srcOrd="0" destOrd="0" parTransId="{CA548C71-DDB6-476C-89B6-233C6735790D}" sibTransId="{A134991B-9557-4CEF-96BA-F46707E471BC}"/>
    <dgm:cxn modelId="{88FBB9B7-6E8C-40AF-8494-340E3AF93FF9}" type="presOf" srcId="{9B8CE23B-E2C9-4182-89AB-51D09B9D0000}" destId="{CD33DE6A-02CA-4252-B8BF-85CA59773001}" srcOrd="0" destOrd="0" presId="urn:microsoft.com/office/officeart/2009/layout/CirclePictureHierarchy"/>
    <dgm:cxn modelId="{B1B1D8BB-A099-4F70-BACD-61E41BAA433B}" srcId="{B0CC6659-AB35-4B2A-9B70-DE4A28057AC0}" destId="{C6B80C41-F2DE-49C4-BDF8-7935A21F2276}" srcOrd="1" destOrd="0" parTransId="{56F059AD-F9B3-4963-A592-475CE16945DB}" sibTransId="{4EDCCE5F-09F6-4D04-B123-DC66490B6112}"/>
    <dgm:cxn modelId="{AE75DECC-3E9A-40B2-B3B9-3D85F152D023}" type="presOf" srcId="{38803947-B1D6-4E38-A3C2-D4B767497EE0}" destId="{FF5120EB-B889-4CA9-989F-37F206DB3FE1}" srcOrd="0" destOrd="0" presId="urn:microsoft.com/office/officeart/2009/layout/CirclePictureHierarchy"/>
    <dgm:cxn modelId="{20EF0FD8-82D2-46ED-9C34-E5CFA3B61195}" srcId="{4FAD6957-3F8C-439A-8B38-658E59B57F94}" destId="{38803947-B1D6-4E38-A3C2-D4B767497EE0}" srcOrd="1" destOrd="0" parTransId="{F899AE1A-65F7-466F-96CA-18FE10B03991}" sibTransId="{2F578E44-FBB8-4492-84D1-DBF97CF4EBB2}"/>
    <dgm:cxn modelId="{A2E944D9-5C8D-49FA-8BF8-21F8B071E8DB}" srcId="{B0CC6659-AB35-4B2A-9B70-DE4A28057AC0}" destId="{4FAD6957-3F8C-439A-8B38-658E59B57F94}" srcOrd="0" destOrd="0" parTransId="{84158E8A-D2DD-4FAA-853E-90B2017CCEF9}" sibTransId="{81B62400-06A4-4EBF-ACE5-1B90F6D24180}"/>
    <dgm:cxn modelId="{337C5CE1-7650-4810-90A2-F7913A9A7FC6}" srcId="{61BC14FE-FB84-4613-A605-4C2E29B07925}" destId="{B0CC6659-AB35-4B2A-9B70-DE4A28057AC0}" srcOrd="0" destOrd="0" parTransId="{B2109459-903B-4E39-9B2A-DF17ED1DD12A}" sibTransId="{D73369C5-43D2-4A7C-8085-02B316E9AB1B}"/>
    <dgm:cxn modelId="{9F6C53EF-2A24-4E54-A577-8379E69AC8C2}" type="presOf" srcId="{C6B80C41-F2DE-49C4-BDF8-7935A21F2276}" destId="{5933E2F7-224E-4DEA-870E-A4D31F92ACB4}" srcOrd="0" destOrd="0" presId="urn:microsoft.com/office/officeart/2009/layout/CirclePictureHierarchy"/>
    <dgm:cxn modelId="{CD2234F0-3F6B-4BFE-A083-6CCD9A4D1B02}" type="presOf" srcId="{4FAD6957-3F8C-439A-8B38-658E59B57F94}" destId="{6C81D741-A613-4715-809D-45CB4E3EAB42}" srcOrd="0" destOrd="0" presId="urn:microsoft.com/office/officeart/2009/layout/CirclePictureHierarchy"/>
    <dgm:cxn modelId="{9D57207A-460D-4C6B-BA6E-11B2E1E7AC55}" type="presParOf" srcId="{3A769F8D-9241-4D98-A6E1-FC4CBE19B687}" destId="{57529005-4E72-4D13-8BC6-82B159CEFE1D}" srcOrd="0" destOrd="0" presId="urn:microsoft.com/office/officeart/2009/layout/CirclePictureHierarchy"/>
    <dgm:cxn modelId="{1588D7CE-0E01-4398-B42F-CCCB8BC92A90}" type="presParOf" srcId="{57529005-4E72-4D13-8BC6-82B159CEFE1D}" destId="{A18027E0-2429-40F0-AFC0-DA16B34EB151}" srcOrd="0" destOrd="0" presId="urn:microsoft.com/office/officeart/2009/layout/CirclePictureHierarchy"/>
    <dgm:cxn modelId="{0C8428D8-3470-4672-9607-1D488FBDD4C9}" type="presParOf" srcId="{A18027E0-2429-40F0-AFC0-DA16B34EB151}" destId="{22EA4494-A503-438A-AE8A-23865EB21B85}" srcOrd="0" destOrd="0" presId="urn:microsoft.com/office/officeart/2009/layout/CirclePictureHierarchy"/>
    <dgm:cxn modelId="{3A87EB5D-F28B-413E-9ED2-BD8EBCBEF5E5}" type="presParOf" srcId="{A18027E0-2429-40F0-AFC0-DA16B34EB151}" destId="{56354901-CF07-43BC-BBAE-6DD4B352E6B4}" srcOrd="1" destOrd="0" presId="urn:microsoft.com/office/officeart/2009/layout/CirclePictureHierarchy"/>
    <dgm:cxn modelId="{D02B9FB5-B3ED-471D-A120-C3600F3EB944}" type="presParOf" srcId="{57529005-4E72-4D13-8BC6-82B159CEFE1D}" destId="{C5D6CD09-0DF4-4C6F-82C5-2EBE30880751}" srcOrd="1" destOrd="0" presId="urn:microsoft.com/office/officeart/2009/layout/CirclePictureHierarchy"/>
    <dgm:cxn modelId="{0F8819A5-2C2B-45BE-855C-2A6F6EC55C13}" type="presParOf" srcId="{C5D6CD09-0DF4-4C6F-82C5-2EBE30880751}" destId="{7A3CD863-2B20-481C-839C-0ACD14F545A1}" srcOrd="0" destOrd="0" presId="urn:microsoft.com/office/officeart/2009/layout/CirclePictureHierarchy"/>
    <dgm:cxn modelId="{EA17ACA6-7F81-4814-81FF-C6F13F6E7201}" type="presParOf" srcId="{C5D6CD09-0DF4-4C6F-82C5-2EBE30880751}" destId="{4091E04A-A233-42D4-9447-B8B015967B4E}" srcOrd="1" destOrd="0" presId="urn:microsoft.com/office/officeart/2009/layout/CirclePictureHierarchy"/>
    <dgm:cxn modelId="{CE0B66D1-3021-4FFF-B561-8F6F9F827889}" type="presParOf" srcId="{4091E04A-A233-42D4-9447-B8B015967B4E}" destId="{20F10923-C199-4BE5-90FD-0C8EF26B358C}" srcOrd="0" destOrd="0" presId="urn:microsoft.com/office/officeart/2009/layout/CirclePictureHierarchy"/>
    <dgm:cxn modelId="{5295E889-AFB8-4488-8023-EE9021FA863F}" type="presParOf" srcId="{20F10923-C199-4BE5-90FD-0C8EF26B358C}" destId="{E3199327-2010-4124-95C4-6DEA3C6A85B6}" srcOrd="0" destOrd="0" presId="urn:microsoft.com/office/officeart/2009/layout/CirclePictureHierarchy"/>
    <dgm:cxn modelId="{44CF4C28-00A6-43F7-A078-70A795DDF564}" type="presParOf" srcId="{20F10923-C199-4BE5-90FD-0C8EF26B358C}" destId="{6C81D741-A613-4715-809D-45CB4E3EAB42}" srcOrd="1" destOrd="0" presId="urn:microsoft.com/office/officeart/2009/layout/CirclePictureHierarchy"/>
    <dgm:cxn modelId="{265CAAF9-54E3-4DA9-97E6-133C46074005}" type="presParOf" srcId="{4091E04A-A233-42D4-9447-B8B015967B4E}" destId="{6828BA3F-5B17-4B63-B985-03ABCB20CF53}" srcOrd="1" destOrd="0" presId="urn:microsoft.com/office/officeart/2009/layout/CirclePictureHierarchy"/>
    <dgm:cxn modelId="{1FA0F62C-8772-47C7-98C2-0516C8BB8B0A}" type="presParOf" srcId="{6828BA3F-5B17-4B63-B985-03ABCB20CF53}" destId="{BFCE65FF-8CCD-408F-8891-6B1BD5DB978E}" srcOrd="0" destOrd="0" presId="urn:microsoft.com/office/officeart/2009/layout/CirclePictureHierarchy"/>
    <dgm:cxn modelId="{8854DDB6-7987-4FB5-BE30-3BE55B2D661C}" type="presParOf" srcId="{6828BA3F-5B17-4B63-B985-03ABCB20CF53}" destId="{A43E8A4C-0A85-4D05-968E-3CA6EF912FC2}" srcOrd="1" destOrd="0" presId="urn:microsoft.com/office/officeart/2009/layout/CirclePictureHierarchy"/>
    <dgm:cxn modelId="{679C101E-9194-4298-8CA0-D06478DB78FD}" type="presParOf" srcId="{A43E8A4C-0A85-4D05-968E-3CA6EF912FC2}" destId="{2EBD5AFA-EB37-445F-95CB-749DAA4784BD}" srcOrd="0" destOrd="0" presId="urn:microsoft.com/office/officeart/2009/layout/CirclePictureHierarchy"/>
    <dgm:cxn modelId="{2E597DB6-C84A-4493-B6C7-A8E7BCA4A7CA}" type="presParOf" srcId="{2EBD5AFA-EB37-445F-95CB-749DAA4784BD}" destId="{5634A969-9C00-4281-B383-B98DE2DB17D6}" srcOrd="0" destOrd="0" presId="urn:microsoft.com/office/officeart/2009/layout/CirclePictureHierarchy"/>
    <dgm:cxn modelId="{E0A5C192-955F-40B7-AF20-0D7CBF81CC7C}" type="presParOf" srcId="{2EBD5AFA-EB37-445F-95CB-749DAA4784BD}" destId="{CD33DE6A-02CA-4252-B8BF-85CA59773001}" srcOrd="1" destOrd="0" presId="urn:microsoft.com/office/officeart/2009/layout/CirclePictureHierarchy"/>
    <dgm:cxn modelId="{53B25F8D-70AB-4616-AA85-57C8116FD2B2}" type="presParOf" srcId="{A43E8A4C-0A85-4D05-968E-3CA6EF912FC2}" destId="{B51AE847-11A7-468D-88F7-153B8B0235E0}" srcOrd="1" destOrd="0" presId="urn:microsoft.com/office/officeart/2009/layout/CirclePictureHierarchy"/>
    <dgm:cxn modelId="{CDD8B2A9-B65D-4425-8236-520411255086}" type="presParOf" srcId="{6828BA3F-5B17-4B63-B985-03ABCB20CF53}" destId="{EA6F8E45-1D47-467D-B9F2-EA79A5A5C9AB}" srcOrd="2" destOrd="0" presId="urn:microsoft.com/office/officeart/2009/layout/CirclePictureHierarchy"/>
    <dgm:cxn modelId="{2B5058EE-B75D-4508-BDA5-F290DFEE277F}" type="presParOf" srcId="{6828BA3F-5B17-4B63-B985-03ABCB20CF53}" destId="{77D36C26-E192-4E3E-83F4-7582AA75425A}" srcOrd="3" destOrd="0" presId="urn:microsoft.com/office/officeart/2009/layout/CirclePictureHierarchy"/>
    <dgm:cxn modelId="{CBE0AF7F-EC06-4ACB-8992-E6AB42BD63F5}" type="presParOf" srcId="{77D36C26-E192-4E3E-83F4-7582AA75425A}" destId="{5C532C92-4CF1-429F-A922-F492D9E247CD}" srcOrd="0" destOrd="0" presId="urn:microsoft.com/office/officeart/2009/layout/CirclePictureHierarchy"/>
    <dgm:cxn modelId="{D6F8EA6F-1874-446A-B97C-6FADDCF2F271}" type="presParOf" srcId="{5C532C92-4CF1-429F-A922-F492D9E247CD}" destId="{512AC827-47A0-480A-AEDA-CF7DB040785E}" srcOrd="0" destOrd="0" presId="urn:microsoft.com/office/officeart/2009/layout/CirclePictureHierarchy"/>
    <dgm:cxn modelId="{3D916E2A-116B-4846-BCD2-4347F854A5E8}" type="presParOf" srcId="{5C532C92-4CF1-429F-A922-F492D9E247CD}" destId="{FF5120EB-B889-4CA9-989F-37F206DB3FE1}" srcOrd="1" destOrd="0" presId="urn:microsoft.com/office/officeart/2009/layout/CirclePictureHierarchy"/>
    <dgm:cxn modelId="{C2374C17-4F9A-4D00-A1C5-3720D1804F4D}" type="presParOf" srcId="{77D36C26-E192-4E3E-83F4-7582AA75425A}" destId="{6BDA7EE7-1B54-445D-861C-BB76CD4B96F6}" srcOrd="1" destOrd="0" presId="urn:microsoft.com/office/officeart/2009/layout/CirclePictureHierarchy"/>
    <dgm:cxn modelId="{89E93932-AEB5-461D-96C2-5233F582D27A}" type="presParOf" srcId="{C5D6CD09-0DF4-4C6F-82C5-2EBE30880751}" destId="{6C2EC84D-9191-48C6-90F0-BBE3AF76A463}" srcOrd="2" destOrd="0" presId="urn:microsoft.com/office/officeart/2009/layout/CirclePictureHierarchy"/>
    <dgm:cxn modelId="{11FC3A6B-3943-4379-95EE-CC5B0C86ACE4}" type="presParOf" srcId="{C5D6CD09-0DF4-4C6F-82C5-2EBE30880751}" destId="{020C7379-7A73-49DD-9B8E-8BF5D6DDEA51}" srcOrd="3" destOrd="0" presId="urn:microsoft.com/office/officeart/2009/layout/CirclePictureHierarchy"/>
    <dgm:cxn modelId="{D6154313-9AE1-4523-BECC-1678905F9AF6}" type="presParOf" srcId="{020C7379-7A73-49DD-9B8E-8BF5D6DDEA51}" destId="{7368190E-F935-4774-8D04-3C86C0130385}" srcOrd="0" destOrd="0" presId="urn:microsoft.com/office/officeart/2009/layout/CirclePictureHierarchy"/>
    <dgm:cxn modelId="{80710407-4047-46F3-B56C-485AC0182353}" type="presParOf" srcId="{7368190E-F935-4774-8D04-3C86C0130385}" destId="{5E31D797-474F-42DA-B41B-DA0EC94C5654}" srcOrd="0" destOrd="0" presId="urn:microsoft.com/office/officeart/2009/layout/CirclePictureHierarchy"/>
    <dgm:cxn modelId="{5AAC6A91-7B2C-40D9-95C9-B297E5DCA5CA}" type="presParOf" srcId="{7368190E-F935-4774-8D04-3C86C0130385}" destId="{5933E2F7-224E-4DEA-870E-A4D31F92ACB4}" srcOrd="1" destOrd="0" presId="urn:microsoft.com/office/officeart/2009/layout/CirclePictureHierarchy"/>
    <dgm:cxn modelId="{32743469-EB74-441F-A817-04AC96D40D1C}" type="presParOf" srcId="{020C7379-7A73-49DD-9B8E-8BF5D6DDEA51}" destId="{A31C6DC7-E8AA-497F-97B3-A58277DDAB30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38ECF-F3E6-4D05-AC63-252EF0B571A7}">
      <dsp:nvSpPr>
        <dsp:cNvPr id="0" name=""/>
        <dsp:cNvSpPr/>
      </dsp:nvSpPr>
      <dsp:spPr>
        <a:xfrm>
          <a:off x="258636" y="0"/>
          <a:ext cx="2931209" cy="173057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E0A763-E0A9-43A8-8675-1F88003F5FA3}">
      <dsp:nvSpPr>
        <dsp:cNvPr id="0" name=""/>
        <dsp:cNvSpPr/>
      </dsp:nvSpPr>
      <dsp:spPr>
        <a:xfrm>
          <a:off x="42600" y="519171"/>
          <a:ext cx="1034544" cy="692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13</a:t>
          </a:r>
        </a:p>
      </dsp:txBody>
      <dsp:txXfrm>
        <a:off x="76392" y="552963"/>
        <a:ext cx="966960" cy="624644"/>
      </dsp:txXfrm>
    </dsp:sp>
    <dsp:sp modelId="{88C0CFE1-D3D6-4709-B441-13B3245ACB92}">
      <dsp:nvSpPr>
        <dsp:cNvPr id="0" name=""/>
        <dsp:cNvSpPr/>
      </dsp:nvSpPr>
      <dsp:spPr>
        <a:xfrm>
          <a:off x="1206968" y="519171"/>
          <a:ext cx="1034544" cy="692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42</a:t>
          </a:r>
        </a:p>
      </dsp:txBody>
      <dsp:txXfrm>
        <a:off x="1240760" y="552963"/>
        <a:ext cx="966960" cy="624644"/>
      </dsp:txXfrm>
    </dsp:sp>
    <dsp:sp modelId="{8BCA2143-DA1C-42B7-82C0-DBEA57883F74}">
      <dsp:nvSpPr>
        <dsp:cNvPr id="0" name=""/>
        <dsp:cNvSpPr/>
      </dsp:nvSpPr>
      <dsp:spPr>
        <a:xfrm>
          <a:off x="2371336" y="519171"/>
          <a:ext cx="1034544" cy="692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69</a:t>
          </a:r>
        </a:p>
      </dsp:txBody>
      <dsp:txXfrm>
        <a:off x="2405128" y="552963"/>
        <a:ext cx="966960" cy="6246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38ECF-F3E6-4D05-AC63-252EF0B571A7}">
      <dsp:nvSpPr>
        <dsp:cNvPr id="0" name=""/>
        <dsp:cNvSpPr/>
      </dsp:nvSpPr>
      <dsp:spPr>
        <a:xfrm>
          <a:off x="366499" y="0"/>
          <a:ext cx="4153664" cy="247629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E0A763-E0A9-43A8-8675-1F88003F5FA3}">
      <dsp:nvSpPr>
        <dsp:cNvPr id="0" name=""/>
        <dsp:cNvSpPr/>
      </dsp:nvSpPr>
      <dsp:spPr>
        <a:xfrm>
          <a:off x="0" y="742888"/>
          <a:ext cx="1465999" cy="9905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>
              <a:solidFill>
                <a:schemeClr val="tx1"/>
              </a:solidFill>
            </a:rPr>
            <a:t>13</a:t>
          </a:r>
        </a:p>
      </dsp:txBody>
      <dsp:txXfrm>
        <a:off x="48353" y="791241"/>
        <a:ext cx="1369293" cy="893812"/>
      </dsp:txXfrm>
    </dsp:sp>
    <dsp:sp modelId="{88C0CFE1-D3D6-4709-B441-13B3245ACB92}">
      <dsp:nvSpPr>
        <dsp:cNvPr id="0" name=""/>
        <dsp:cNvSpPr/>
      </dsp:nvSpPr>
      <dsp:spPr>
        <a:xfrm>
          <a:off x="1710332" y="742888"/>
          <a:ext cx="1465999" cy="9905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>
              <a:solidFill>
                <a:schemeClr val="tx1"/>
              </a:solidFill>
            </a:rPr>
            <a:t>42</a:t>
          </a:r>
        </a:p>
      </dsp:txBody>
      <dsp:txXfrm>
        <a:off x="1758685" y="791241"/>
        <a:ext cx="1369293" cy="893812"/>
      </dsp:txXfrm>
    </dsp:sp>
    <dsp:sp modelId="{8BCA2143-DA1C-42B7-82C0-DBEA57883F74}">
      <dsp:nvSpPr>
        <dsp:cNvPr id="0" name=""/>
        <dsp:cNvSpPr/>
      </dsp:nvSpPr>
      <dsp:spPr>
        <a:xfrm>
          <a:off x="3420664" y="742888"/>
          <a:ext cx="1465999" cy="9905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>
              <a:solidFill>
                <a:schemeClr val="tx1"/>
              </a:solidFill>
            </a:rPr>
            <a:t>69</a:t>
          </a:r>
        </a:p>
      </dsp:txBody>
      <dsp:txXfrm>
        <a:off x="3469017" y="791241"/>
        <a:ext cx="1369293" cy="893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EC84D-9191-48C6-90F0-BBE3AF76A463}">
      <dsp:nvSpPr>
        <dsp:cNvPr id="0" name=""/>
        <dsp:cNvSpPr/>
      </dsp:nvSpPr>
      <dsp:spPr>
        <a:xfrm>
          <a:off x="1642769" y="983447"/>
          <a:ext cx="694256" cy="1590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155"/>
              </a:lnTo>
              <a:lnTo>
                <a:pt x="694256" y="80155"/>
              </a:lnTo>
              <a:lnTo>
                <a:pt x="694256" y="15904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6F8E45-1D47-467D-B9F2-EA79A5A5C9AB}">
      <dsp:nvSpPr>
        <dsp:cNvPr id="0" name=""/>
        <dsp:cNvSpPr/>
      </dsp:nvSpPr>
      <dsp:spPr>
        <a:xfrm>
          <a:off x="948512" y="1647409"/>
          <a:ext cx="694256" cy="1590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155"/>
              </a:lnTo>
              <a:lnTo>
                <a:pt x="694256" y="80155"/>
              </a:lnTo>
              <a:lnTo>
                <a:pt x="694256" y="15904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CE65FF-8CCD-408F-8891-6B1BD5DB978E}">
      <dsp:nvSpPr>
        <dsp:cNvPr id="0" name=""/>
        <dsp:cNvSpPr/>
      </dsp:nvSpPr>
      <dsp:spPr>
        <a:xfrm>
          <a:off x="254255" y="1647409"/>
          <a:ext cx="694256" cy="159047"/>
        </a:xfrm>
        <a:custGeom>
          <a:avLst/>
          <a:gdLst/>
          <a:ahLst/>
          <a:cxnLst/>
          <a:rect l="0" t="0" r="0" b="0"/>
          <a:pathLst>
            <a:path>
              <a:moveTo>
                <a:pt x="694256" y="0"/>
              </a:moveTo>
              <a:lnTo>
                <a:pt x="694256" y="80155"/>
              </a:lnTo>
              <a:lnTo>
                <a:pt x="0" y="80155"/>
              </a:lnTo>
              <a:lnTo>
                <a:pt x="0" y="15904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3CD863-2B20-481C-839C-0ACD14F545A1}">
      <dsp:nvSpPr>
        <dsp:cNvPr id="0" name=""/>
        <dsp:cNvSpPr/>
      </dsp:nvSpPr>
      <dsp:spPr>
        <a:xfrm>
          <a:off x="948512" y="983447"/>
          <a:ext cx="694256" cy="159047"/>
        </a:xfrm>
        <a:custGeom>
          <a:avLst/>
          <a:gdLst/>
          <a:ahLst/>
          <a:cxnLst/>
          <a:rect l="0" t="0" r="0" b="0"/>
          <a:pathLst>
            <a:path>
              <a:moveTo>
                <a:pt x="694256" y="0"/>
              </a:moveTo>
              <a:lnTo>
                <a:pt x="694256" y="80155"/>
              </a:lnTo>
              <a:lnTo>
                <a:pt x="0" y="80155"/>
              </a:lnTo>
              <a:lnTo>
                <a:pt x="0" y="15904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EA4494-A503-438A-AE8A-23865EB21B85}">
      <dsp:nvSpPr>
        <dsp:cNvPr id="0" name=""/>
        <dsp:cNvSpPr/>
      </dsp:nvSpPr>
      <dsp:spPr>
        <a:xfrm>
          <a:off x="1390312" y="478533"/>
          <a:ext cx="504914" cy="504914"/>
        </a:xfrm>
        <a:prstGeom prst="ellipse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54901-CF07-43BC-BBAE-6DD4B352E6B4}">
      <dsp:nvSpPr>
        <dsp:cNvPr id="0" name=""/>
        <dsp:cNvSpPr/>
      </dsp:nvSpPr>
      <dsp:spPr>
        <a:xfrm>
          <a:off x="1895226" y="477271"/>
          <a:ext cx="757371" cy="504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1895226" y="477271"/>
        <a:ext cx="757371" cy="504914"/>
      </dsp:txXfrm>
    </dsp:sp>
    <dsp:sp modelId="{E3199327-2010-4124-95C4-6DEA3C6A85B6}">
      <dsp:nvSpPr>
        <dsp:cNvPr id="0" name=""/>
        <dsp:cNvSpPr/>
      </dsp:nvSpPr>
      <dsp:spPr>
        <a:xfrm>
          <a:off x="696055" y="1142495"/>
          <a:ext cx="504914" cy="504914"/>
        </a:xfrm>
        <a:prstGeom prst="ellipse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1D741-A613-4715-809D-45CB4E3EAB42}">
      <dsp:nvSpPr>
        <dsp:cNvPr id="0" name=""/>
        <dsp:cNvSpPr/>
      </dsp:nvSpPr>
      <dsp:spPr>
        <a:xfrm>
          <a:off x="1200969" y="1141233"/>
          <a:ext cx="757371" cy="504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1200969" y="1141233"/>
        <a:ext cx="757371" cy="504914"/>
      </dsp:txXfrm>
    </dsp:sp>
    <dsp:sp modelId="{5634A969-9C00-4281-B383-B98DE2DB17D6}">
      <dsp:nvSpPr>
        <dsp:cNvPr id="0" name=""/>
        <dsp:cNvSpPr/>
      </dsp:nvSpPr>
      <dsp:spPr>
        <a:xfrm>
          <a:off x="1798" y="1806457"/>
          <a:ext cx="504914" cy="504914"/>
        </a:xfrm>
        <a:prstGeom prst="ellipse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3DE6A-02CA-4252-B8BF-85CA59773001}">
      <dsp:nvSpPr>
        <dsp:cNvPr id="0" name=""/>
        <dsp:cNvSpPr/>
      </dsp:nvSpPr>
      <dsp:spPr>
        <a:xfrm>
          <a:off x="506712" y="1805195"/>
          <a:ext cx="757371" cy="504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06712" y="1805195"/>
        <a:ext cx="757371" cy="504914"/>
      </dsp:txXfrm>
    </dsp:sp>
    <dsp:sp modelId="{512AC827-47A0-480A-AEDA-CF7DB040785E}">
      <dsp:nvSpPr>
        <dsp:cNvPr id="0" name=""/>
        <dsp:cNvSpPr/>
      </dsp:nvSpPr>
      <dsp:spPr>
        <a:xfrm>
          <a:off x="1390312" y="1806457"/>
          <a:ext cx="504914" cy="504914"/>
        </a:xfrm>
        <a:prstGeom prst="ellipse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120EB-B889-4CA9-989F-37F206DB3FE1}">
      <dsp:nvSpPr>
        <dsp:cNvPr id="0" name=""/>
        <dsp:cNvSpPr/>
      </dsp:nvSpPr>
      <dsp:spPr>
        <a:xfrm>
          <a:off x="1895226" y="1805195"/>
          <a:ext cx="757371" cy="504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1895226" y="1805195"/>
        <a:ext cx="757371" cy="504914"/>
      </dsp:txXfrm>
    </dsp:sp>
    <dsp:sp modelId="{5E31D797-474F-42DA-B41B-DA0EC94C5654}">
      <dsp:nvSpPr>
        <dsp:cNvPr id="0" name=""/>
        <dsp:cNvSpPr/>
      </dsp:nvSpPr>
      <dsp:spPr>
        <a:xfrm>
          <a:off x="2084569" y="1142495"/>
          <a:ext cx="504914" cy="504914"/>
        </a:xfrm>
        <a:prstGeom prst="ellipse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3E2F7-224E-4DEA-870E-A4D31F92ACB4}">
      <dsp:nvSpPr>
        <dsp:cNvPr id="0" name=""/>
        <dsp:cNvSpPr/>
      </dsp:nvSpPr>
      <dsp:spPr>
        <a:xfrm>
          <a:off x="2216258" y="1645087"/>
          <a:ext cx="757371" cy="504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2216258" y="1645087"/>
        <a:ext cx="757371" cy="504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13.9.2020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9/13/2020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641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32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2005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5CEEED-D241-4401-9102-96ADB82317DA}" type="slidenum">
              <a:rPr lang="en-US"/>
              <a:pPr/>
              <a:t>10</a:t>
            </a:fld>
            <a:r>
              <a:rPr lang="en-US" dirty="0"/>
              <a:t>##</a:t>
            </a:r>
          </a:p>
        </p:txBody>
      </p:sp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42448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427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2005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5CEEED-D241-4401-9102-96ADB82317DA}" type="slidenum">
              <a:rPr lang="en-US"/>
              <a:pPr/>
              <a:t>22</a:t>
            </a:fld>
            <a:r>
              <a:rPr lang="en-US" dirty="0"/>
              <a:t>##</a:t>
            </a:r>
          </a:p>
        </p:txBody>
      </p:sp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95224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2005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5CEEED-D241-4401-9102-96ADB82317DA}" type="slidenum">
              <a:rPr lang="en-US"/>
              <a:pPr/>
              <a:t>23</a:t>
            </a:fld>
            <a:r>
              <a:rPr lang="en-US" dirty="0"/>
              <a:t>##</a:t>
            </a:r>
          </a:p>
        </p:txBody>
      </p:sp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73830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2005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5CEEED-D241-4401-9102-96ADB82317DA}" type="slidenum">
              <a:rPr lang="en-US"/>
              <a:pPr/>
              <a:t>24</a:t>
            </a:fld>
            <a:r>
              <a:rPr lang="en-US" dirty="0"/>
              <a:t>##</a:t>
            </a:r>
          </a:p>
        </p:txBody>
      </p:sp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24767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2005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5CEEED-D241-4401-9102-96ADB82317DA}" type="slidenum">
              <a:rPr lang="en-US"/>
              <a:pPr/>
              <a:t>32</a:t>
            </a:fld>
            <a:r>
              <a:rPr lang="en-US" dirty="0"/>
              <a:t>##</a:t>
            </a:r>
          </a:p>
        </p:txBody>
      </p:sp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16656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2005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5CEEED-D241-4401-9102-96ADB82317DA}" type="slidenum">
              <a:rPr lang="en-US"/>
              <a:pPr/>
              <a:t>33</a:t>
            </a:fld>
            <a:r>
              <a:rPr lang="en-US" dirty="0"/>
              <a:t>##</a:t>
            </a:r>
          </a:p>
        </p:txBody>
      </p:sp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88984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92EC80-7FD2-4C71-8A5C-8AF09BC0BF94}" type="slidenum">
              <a:rPr lang="en-US"/>
              <a:pPr/>
              <a:t>35</a:t>
            </a:fld>
            <a:r>
              <a:rPr lang="en-US" dirty="0"/>
              <a:t>##</a:t>
            </a:r>
          </a:p>
        </p:txBody>
      </p:sp>
      <p:sp>
        <p:nvSpPr>
          <p:cNvPr id="68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55727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2005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5CEEED-D241-4401-9102-96ADB82317DA}" type="slidenum">
              <a:rPr lang="en-US"/>
              <a:pPr/>
              <a:t>38</a:t>
            </a:fld>
            <a:r>
              <a:rPr lang="en-US" dirty="0"/>
              <a:t>##</a:t>
            </a:r>
          </a:p>
        </p:txBody>
      </p:sp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05011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2005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5CEEED-D241-4401-9102-96ADB82317DA}" type="slidenum">
              <a:rPr lang="en-US"/>
              <a:pPr/>
              <a:t>41</a:t>
            </a:fld>
            <a:r>
              <a:rPr lang="en-US" dirty="0"/>
              <a:t>##</a:t>
            </a:r>
          </a:p>
        </p:txBody>
      </p:sp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38483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92EC80-7FD2-4C71-8A5C-8AF09BC0BF94}" type="slidenum">
              <a:rPr lang="en-US"/>
              <a:pPr/>
              <a:t>50</a:t>
            </a:fld>
            <a:r>
              <a:rPr lang="en-US" dirty="0"/>
              <a:t>##</a:t>
            </a:r>
          </a:p>
        </p:txBody>
      </p:sp>
      <p:sp>
        <p:nvSpPr>
          <p:cNvPr id="68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19606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489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171907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29041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58938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www.facebook.com/SoftwareUniversity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forum.softuni.bg/" TargetMode="External"/><Relationship Id="rId11" Type="http://schemas.openxmlformats.org/officeDocument/2006/relationships/image" Target="../media/image30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image" Target="../media/image29.png"/><Relationship Id="rId4" Type="http://schemas.openxmlformats.org/officeDocument/2006/relationships/hyperlink" Target="http://softuni.foundation/" TargetMode="External"/><Relationship Id="rId9" Type="http://schemas.openxmlformats.org/officeDocument/2006/relationships/image" Target="../media/image28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2.png"/><Relationship Id="rId7" Type="http://schemas.openxmlformats.org/officeDocument/2006/relationships/image" Target="../media/image17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33.png"/><Relationship Id="rId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3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B5A345C-2CD0-4932-A998-37B2D20BF0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629" y="2351427"/>
            <a:ext cx="5439372" cy="2325990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350812" y="2374047"/>
            <a:ext cx="3171055" cy="3431879"/>
          </a:xfrm>
          <a:prstGeom prst="rect">
            <a:avLst/>
          </a:prstGeom>
        </p:spPr>
      </p:pic>
      <p:sp>
        <p:nvSpPr>
          <p:cNvPr id="43" name="Subtitle 5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6859" y="1303142"/>
            <a:ext cx="10965303" cy="882654"/>
          </a:xfrm>
        </p:spPr>
        <p:txBody>
          <a:bodyPr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Subtitle</a:t>
            </a:r>
            <a:endParaRPr lang="bg-BG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EB7CD-FF73-4344-9FE5-589B30F5AA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813" y="6057655"/>
            <a:ext cx="2106010" cy="525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DFEC2C-38C6-405B-AD0A-06879C50EFE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630" y="6035664"/>
            <a:ext cx="629579" cy="5265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483B54-1DD1-4FC4-9FA0-4872F8C409C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3142" y="6035664"/>
            <a:ext cx="1187082" cy="5265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859" y="254857"/>
            <a:ext cx="10965303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27" name="Picture 4" title="CC-BY-NC-SA License">
            <a:hlinkClick r:id="rId7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7CB336FF-A768-4CE1-B1CE-FC103B348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51416" y="6080062"/>
            <a:ext cx="1437271" cy="502868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</p:pic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643853" y="5916124"/>
            <a:ext cx="2951518" cy="38278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643853" y="6340279"/>
            <a:ext cx="2951518" cy="35175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71147" y="4876800"/>
            <a:ext cx="2951518" cy="50679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71147" y="5368740"/>
            <a:ext cx="2951518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-1589" y="6702676"/>
            <a:ext cx="12195176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5CD64-8E62-478C-BD07-29B0AE8E261B}"/>
              </a:ext>
            </a:extLst>
          </p:cNvPr>
          <p:cNvSpPr/>
          <p:nvPr userDrawn="1"/>
        </p:nvSpPr>
        <p:spPr>
          <a:xfrm>
            <a:off x="-1588" y="6702676"/>
            <a:ext cx="12192000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5D431A-1BDA-40DB-B7D8-23653331B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15109" y="5490438"/>
            <a:ext cx="10961783" cy="4998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4" name="Oval 3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5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0FF4B1E-24EA-407C-BFA6-24CCB6D440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3472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05" y="1792355"/>
            <a:ext cx="1830305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915152" cy="406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5510" y="1121144"/>
            <a:ext cx="9929724" cy="5276048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ED30444-7448-455E-ACFD-2D8F93C93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399495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0505D47-5EAF-4709-A366-B1437B044A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599" y="274595"/>
            <a:ext cx="2144846" cy="534964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9A2DC4-5280-4E93-B6D2-9709FE6D06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055373AC-9AA7-423B-BA00-BA1C74164DBD}" type="datetime1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4C1EE0-8040-49CB-9319-CF991DE7B3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latinLnBrk="0">
              <a:defRPr/>
            </a:lvl1pPr>
          </a:lstStyle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643825A-6B67-4224-B077-B526FC2A4C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A6B0AA-1988-451B-88D4-0F72629557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-3472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27" y="3314704"/>
            <a:ext cx="1260665" cy="279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1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399495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9073" y="1121144"/>
            <a:ext cx="10036163" cy="5276048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A4EF-FDC7-4D65-91A0-D3473057251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0B15D-022F-4B93-A0E6-6FC062C18A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latinLnBrk="0"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45B5C-C9D2-4885-BBE1-AE0D4F570C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E6AED5-8603-4881-90EA-963A2A5A2C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599" y="274595"/>
            <a:ext cx="2144846" cy="53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1E40596-5F7F-41C3-9807-7FA635B42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951C9B-3DEE-4E28-8D4C-55505E0CB6AB}"/>
              </a:ext>
            </a:extLst>
          </p:cNvPr>
          <p:cNvSpPr/>
          <p:nvPr/>
        </p:nvSpPr>
        <p:spPr>
          <a:xfrm>
            <a:off x="-3176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9" name="Picture 8" descr="A drawing of a cartoon character&#10;&#10;Description generated with high confidence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10369" y="1409638"/>
            <a:ext cx="3572162" cy="4385137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8CCE616-2FC8-4941-8612-3EC8CFD84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Table of Content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8182463" cy="4795935"/>
          </a:xfrm>
        </p:spPr>
        <p:txBody>
          <a:bodyPr/>
          <a:lstStyle>
            <a:lvl1pPr marL="514042" indent="-514042" latinLnBrk="0"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>
              <a:defRPr/>
            </a:lvl2pPr>
          </a:lstStyle>
          <a:p>
            <a:pPr lvl="0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7D6D63-C0D2-4213-B1FA-96890BDE6C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854" y="232973"/>
            <a:ext cx="2126081" cy="530284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AA6AF62-9F6D-4B1C-831C-72AACA29F7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055373AC-9AA7-423B-BA00-BA1C74164DBD}" type="datetime1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92A8ED8-1E91-4F87-9AAB-0B939CA64F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latinLnBrk="0">
              <a:defRPr/>
            </a:lvl1pPr>
          </a:lstStyle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E4C518-B0B3-4716-AB97-AC8ECA4F7C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9D60504-DA9E-4357-9A0A-15E333FC27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ECF49BE-911D-4AA9-ACBB-00FF28322ABD}"/>
              </a:ext>
            </a:extLst>
          </p:cNvPr>
          <p:cNvSpPr/>
          <p:nvPr userDrawn="1"/>
        </p:nvSpPr>
        <p:spPr>
          <a:xfrm>
            <a:off x="-3176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" y="6184673"/>
            <a:ext cx="12192000" cy="673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A09987-8827-47B7-85D3-6D69487FC7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5931"/>
            <a:ext cx="5426148" cy="482410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5450" y="1195931"/>
            <a:ext cx="5426147" cy="482410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8E34E-73A2-41B4-8C58-4DDB1D4D97D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88816" y="6390560"/>
            <a:ext cx="808713" cy="308845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141AFF-42FF-4AAA-A3FA-149DDA66FCC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B2616D-7BC8-4F96-B3A7-B299A353B4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AACB49-5E4F-4436-9D82-E83B52A7FC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854" y="232973"/>
            <a:ext cx="2126081" cy="5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AD94B5-9922-4E42-89CE-3C445EFB1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-1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2010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E2769-FF5C-435B-BEDD-ABA3B8F1B9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055373AC-9AA7-423B-BA00-BA1C74164DBD}" type="datetime1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6AD27-58D7-46FA-99F8-E5BB835ADA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latinLnBrk="0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DA7C9-2FCE-40EB-BF32-C698322202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91B60F-461F-45D1-A35C-8AC3D83E7A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854" y="232973"/>
            <a:ext cx="2126081" cy="5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19C6415-13AB-4677-935E-D11508C4A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B4EBD86-A13A-41DF-A04E-EA4A858E8860}"/>
              </a:ext>
            </a:extLst>
          </p:cNvPr>
          <p:cNvSpPr/>
          <p:nvPr/>
        </p:nvSpPr>
        <p:spPr>
          <a:xfrm>
            <a:off x="-3176" y="1121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185625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GB" dirty="0"/>
              <a:t>Sample source code: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880169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A3E62-7E9B-447C-9045-B989874D0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7BD22-7B02-4D39-928A-4BAD0D84EC1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055373AC-9AA7-423B-BA00-BA1C74164DBD}" type="datetime1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ED1B3-84A5-43D8-8770-B2C1E963B68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latinLnBrk="0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3FF9B-335F-4699-94F7-E43CA829037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B003D1-D2F8-474E-9E8E-075BE60E92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854" y="232973"/>
            <a:ext cx="2126081" cy="5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9103550-B62A-4EFE-815D-0BE048B690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508" y="274677"/>
            <a:ext cx="2126081" cy="53028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2B94D3F-5DC8-4398-914C-4833ABE4CC19}"/>
              </a:ext>
            </a:extLst>
          </p:cNvPr>
          <p:cNvSpPr/>
          <p:nvPr userDrawn="1"/>
        </p:nvSpPr>
        <p:spPr>
          <a:xfrm>
            <a:off x="-3176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9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DC34D6-9228-4253-9C4C-D8A6DA24AA56}"/>
              </a:ext>
            </a:extLst>
          </p:cNvPr>
          <p:cNvSpPr/>
          <p:nvPr userDrawn="1"/>
        </p:nvSpPr>
        <p:spPr>
          <a:xfrm>
            <a:off x="-3176" y="9525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9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298FECF-EFE4-4F1B-B56E-2184F0CA1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508" y="284202"/>
            <a:ext cx="2126081" cy="5302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609A8D-9063-4A88-A094-81A65D7DF4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880F1A8-532C-4443-BDB9-44438A972E15}"/>
              </a:ext>
            </a:extLst>
          </p:cNvPr>
          <p:cNvSpPr/>
          <p:nvPr/>
        </p:nvSpPr>
        <p:spPr>
          <a:xfrm>
            <a:off x="-3176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5936" y="1353867"/>
            <a:ext cx="7199299" cy="5027884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E050E4-DC54-4CF4-A8D3-DC8B8DA04E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854" y="232973"/>
            <a:ext cx="2126081" cy="53028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D2D4F1-AF85-4B10-8FB0-9E23BF5A2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  <a:endParaRPr lang="bg-BG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150CCF-9572-47BC-99D4-752FC5DAD9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055373AC-9AA7-423B-BA00-BA1C74164DBD}" type="datetime1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0209300-FF05-499D-B365-957E5FF129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latinLnBrk="0">
              <a:defRPr/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A4ACB69-3FFB-4CAD-A98D-4B0BB5C820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latinLnBrk="0">
              <a:defRPr/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B21D9C95-5FF6-4F7E-AC00-ED6F3DD385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7" y="5788"/>
            <a:ext cx="12195176" cy="685221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EAD13D1-8921-41EB-9EDF-DA3F5121F4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0" y="27569"/>
            <a:ext cx="12195176" cy="685221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/>
          <p:nvPr/>
        </p:nvSpPr>
        <p:spPr>
          <a:xfrm>
            <a:off x="809628" y="703244"/>
            <a:ext cx="6545144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87" y="2222932"/>
            <a:ext cx="3575905" cy="41486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675455-B7FA-4569-A5FD-A3B0F20B2A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857" y="1702473"/>
            <a:ext cx="1198901" cy="11989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7D15FD-4C66-4B85-98E6-7826AA8F61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116" y="3776293"/>
            <a:ext cx="1166400" cy="14022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755AAE-BA08-481C-9224-0061170EE4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000" y="3776293"/>
            <a:ext cx="1166400" cy="13892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83D66F-855B-463B-920B-BF239B01A20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000" y="3775663"/>
            <a:ext cx="1166400" cy="15671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43F71A-2013-433A-8322-FBAAED3162D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000" y="3769759"/>
            <a:ext cx="1166400" cy="13507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812936-74B6-4265-8C08-AEDC8C79870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000" y="3776293"/>
            <a:ext cx="1166400" cy="14337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4C190C-5856-41B9-8819-AE8DE0E1098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303" y="3776295"/>
            <a:ext cx="1164654" cy="14400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62FB7C-BD6E-4383-98C1-2CF30F34CAFD}"/>
              </a:ext>
            </a:extLst>
          </p:cNvPr>
          <p:cNvCxnSpPr>
            <a:cxnSpLocks/>
          </p:cNvCxnSpPr>
          <p:nvPr/>
        </p:nvCxnSpPr>
        <p:spPr>
          <a:xfrm>
            <a:off x="3969414" y="3335565"/>
            <a:ext cx="716178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E5982E-3110-47E1-A5BB-91B7BECC3093}"/>
              </a:ext>
            </a:extLst>
          </p:cNvPr>
          <p:cNvCxnSpPr/>
          <p:nvPr/>
        </p:nvCxnSpPr>
        <p:spPr>
          <a:xfrm>
            <a:off x="3969414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BFE2F3-0845-4E5B-9375-E9D4027DD675}"/>
              </a:ext>
            </a:extLst>
          </p:cNvPr>
          <p:cNvCxnSpPr/>
          <p:nvPr/>
        </p:nvCxnSpPr>
        <p:spPr>
          <a:xfrm>
            <a:off x="536400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DDBF37-0764-47AA-94E3-9A44F3ED8FB5}"/>
              </a:ext>
            </a:extLst>
          </p:cNvPr>
          <p:cNvCxnSpPr/>
          <p:nvPr/>
        </p:nvCxnSpPr>
        <p:spPr>
          <a:xfrm>
            <a:off x="6811200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9ABE09-E33C-46B7-A80D-7BF4A6956211}"/>
              </a:ext>
            </a:extLst>
          </p:cNvPr>
          <p:cNvCxnSpPr/>
          <p:nvPr/>
        </p:nvCxnSpPr>
        <p:spPr>
          <a:xfrm>
            <a:off x="8251200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91D320-3732-40B8-864D-142D0A277ED1}"/>
              </a:ext>
            </a:extLst>
          </p:cNvPr>
          <p:cNvCxnSpPr>
            <a:cxnSpLocks/>
          </p:cNvCxnSpPr>
          <p:nvPr/>
        </p:nvCxnSpPr>
        <p:spPr>
          <a:xfrm>
            <a:off x="9691200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C63D1E8-4A92-4691-8A24-A2FC7E8008E5}"/>
              </a:ext>
            </a:extLst>
          </p:cNvPr>
          <p:cNvCxnSpPr>
            <a:cxnSpLocks/>
          </p:cNvCxnSpPr>
          <p:nvPr/>
        </p:nvCxnSpPr>
        <p:spPr>
          <a:xfrm>
            <a:off x="1113120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4A0FE1-723D-4682-8682-77BAD950EE15}"/>
              </a:ext>
            </a:extLst>
          </p:cNvPr>
          <p:cNvCxnSpPr/>
          <p:nvPr/>
        </p:nvCxnSpPr>
        <p:spPr>
          <a:xfrm>
            <a:off x="7550307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/>
        </p:nvSpPr>
        <p:spPr>
          <a:xfrm>
            <a:off x="-1589" y="6371331"/>
            <a:ext cx="12195176" cy="5045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AF69835-F228-45D6-B39E-583EEBF1FE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856" y="1702471"/>
            <a:ext cx="1198901" cy="11989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577C4C0-8539-4520-A497-BBFB45821D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116" y="3776291"/>
            <a:ext cx="1166400" cy="140222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6073A22-1B90-4D35-943B-5D9816FEB8F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000" y="3776291"/>
            <a:ext cx="1166400" cy="13892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7C8CFEA-27DA-4058-A611-3AE53851908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000" y="3775661"/>
            <a:ext cx="1166400" cy="156713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9346DD-5152-48D0-8B06-7F8CE9803DA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000" y="3769759"/>
            <a:ext cx="1166400" cy="135075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6B4B602-D2C7-47C8-9470-2C5795ED8C2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000" y="3776291"/>
            <a:ext cx="1166400" cy="14337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03B7E6D-AFDD-45E1-8121-F42E465AB0E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303" y="3776295"/>
            <a:ext cx="1164654" cy="144000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A3191E-14EF-4DC3-AD93-CA289B12B4C9}"/>
              </a:ext>
            </a:extLst>
          </p:cNvPr>
          <p:cNvCxnSpPr>
            <a:cxnSpLocks/>
          </p:cNvCxnSpPr>
          <p:nvPr userDrawn="1"/>
        </p:nvCxnSpPr>
        <p:spPr>
          <a:xfrm>
            <a:off x="3969414" y="3335565"/>
            <a:ext cx="716178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B530A8A-ABDE-4B7F-B28B-A9B499B32225}"/>
              </a:ext>
            </a:extLst>
          </p:cNvPr>
          <p:cNvCxnSpPr/>
          <p:nvPr userDrawn="1"/>
        </p:nvCxnSpPr>
        <p:spPr>
          <a:xfrm>
            <a:off x="3969414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5ADF575-91AD-4F69-BA66-356B62AEB683}"/>
              </a:ext>
            </a:extLst>
          </p:cNvPr>
          <p:cNvCxnSpPr/>
          <p:nvPr userDrawn="1"/>
        </p:nvCxnSpPr>
        <p:spPr>
          <a:xfrm>
            <a:off x="536400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0C0104-2410-4352-A800-FD0292CC11A7}"/>
              </a:ext>
            </a:extLst>
          </p:cNvPr>
          <p:cNvCxnSpPr/>
          <p:nvPr userDrawn="1"/>
        </p:nvCxnSpPr>
        <p:spPr>
          <a:xfrm>
            <a:off x="6811200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FB7F08-6662-4D0C-AFAB-CFFDE9B1CA0A}"/>
              </a:ext>
            </a:extLst>
          </p:cNvPr>
          <p:cNvCxnSpPr/>
          <p:nvPr userDrawn="1"/>
        </p:nvCxnSpPr>
        <p:spPr>
          <a:xfrm>
            <a:off x="8251200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79635D4-E3FF-4174-A648-032E9615851B}"/>
              </a:ext>
            </a:extLst>
          </p:cNvPr>
          <p:cNvCxnSpPr>
            <a:cxnSpLocks/>
          </p:cNvCxnSpPr>
          <p:nvPr userDrawn="1"/>
        </p:nvCxnSpPr>
        <p:spPr>
          <a:xfrm>
            <a:off x="9691200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601A2EF-9181-444B-8898-83A36D09B869}"/>
              </a:ext>
            </a:extLst>
          </p:cNvPr>
          <p:cNvCxnSpPr>
            <a:cxnSpLocks/>
          </p:cNvCxnSpPr>
          <p:nvPr userDrawn="1"/>
        </p:nvCxnSpPr>
        <p:spPr>
          <a:xfrm>
            <a:off x="1113120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7F38C1-A87B-4D59-BE69-6A23413F5870}"/>
              </a:ext>
            </a:extLst>
          </p:cNvPr>
          <p:cNvCxnSpPr/>
          <p:nvPr userDrawn="1"/>
        </p:nvCxnSpPr>
        <p:spPr>
          <a:xfrm>
            <a:off x="7550307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1F0BE-C845-41D7-980D-08F47344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1AECB-B130-49B3-BA09-BE6F9499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59D535-5F61-423F-B295-136EB6A1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DA41A3-0295-46DF-A320-41070D15EA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9833419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/>
            </a:lvl2pPr>
            <a:lvl3pPr>
              <a:buClr>
                <a:schemeClr val="tx1"/>
              </a:buClr>
              <a:defRPr/>
            </a:lvl3pPr>
          </a:lstStyle>
          <a:p>
            <a:pPr>
              <a:lnSpc>
                <a:spcPct val="100000"/>
              </a:lnSpc>
            </a:pPr>
            <a:r>
              <a:rPr lang="en-US" sz="3198" dirty="0"/>
              <a:t>Software University – High-Quality Education, 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898" noProof="1">
                <a:hlinkClick r:id="rId3"/>
              </a:rPr>
              <a:t>softuni.bg</a:t>
            </a:r>
            <a:r>
              <a:rPr lang="en-US" sz="2898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198" dirty="0"/>
              <a:t>Software University Foundation</a:t>
            </a:r>
            <a:endParaRPr lang="bg-BG" sz="3198" dirty="0"/>
          </a:p>
          <a:p>
            <a:pPr lvl="1">
              <a:lnSpc>
                <a:spcPct val="100000"/>
              </a:lnSpc>
            </a:pPr>
            <a:r>
              <a:rPr lang="en-US" sz="2998" noProof="1">
                <a:hlinkClick r:id="rId4"/>
              </a:rPr>
              <a:t>http://softuni.foundation/</a:t>
            </a:r>
            <a:endParaRPr lang="en-US" sz="2998" noProof="1"/>
          </a:p>
          <a:p>
            <a:pPr>
              <a:lnSpc>
                <a:spcPct val="100000"/>
              </a:lnSpc>
            </a:pPr>
            <a:r>
              <a:rPr lang="en-US" sz="3198" dirty="0"/>
              <a:t>Software University @ Facebook</a:t>
            </a:r>
          </a:p>
          <a:p>
            <a:pPr marL="989981" marR="0" lvl="1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/>
            </a:pPr>
            <a:r>
              <a:rPr kumimoji="0" lang="en-US" sz="2898" b="0" i="0" u="none" strike="noStrike" kern="1200" cap="none" spc="0" normalizeH="0" baseline="0" noProof="1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/>
              </a:rPr>
              <a:t>facebook.com/SoftwareUniversity</a:t>
            </a:r>
            <a:endParaRPr kumimoji="0" lang="en-US" sz="2898" b="0" i="0" u="none" strike="noStrike" kern="1200" cap="none" spc="0" normalizeH="0" baseline="0" noProof="1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3198" dirty="0"/>
              <a:t>Software University Forums</a:t>
            </a:r>
          </a:p>
          <a:p>
            <a:pPr marL="989981" marR="0" lvl="1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/>
            </a:pPr>
            <a:r>
              <a:rPr lang="en-US" sz="2798" dirty="0">
                <a:hlinkClick r:id="rId6"/>
              </a:rPr>
              <a:t>forum.softuni.bg</a:t>
            </a:r>
            <a:endParaRPr lang="en-US" sz="2798" noProof="1"/>
          </a:p>
        </p:txBody>
      </p:sp>
      <p:pic>
        <p:nvPicPr>
          <p:cNvPr id="14" name="Picture 4">
            <a:hlinkClick r:id="rId7" tooltip="Software University @ Facebook"/>
            <a:extLst>
              <a:ext uri="{FF2B5EF4-FFF2-40B4-BE49-F238E27FC236}">
                <a16:creationId xmlns:a16="http://schemas.microsoft.com/office/drawing/2014/main" id="{0101C673-F197-4525-ADDC-FFD181E4E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61449" y="3608627"/>
            <a:ext cx="1119031" cy="111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hlinkClick r:id="rId6" tooltip="Software University Discussion Forum"/>
            <a:extLst>
              <a:ext uri="{FF2B5EF4-FFF2-40B4-BE49-F238E27FC236}">
                <a16:creationId xmlns:a16="http://schemas.microsoft.com/office/drawing/2014/main" id="{A584039C-C3B0-4714-A6D0-181CA3D2DD2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977" y="5017462"/>
            <a:ext cx="1042504" cy="10422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603" y="2384689"/>
            <a:ext cx="3227765" cy="4297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C5D9AB-27D1-4866-B85E-1728987FAE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829" y="1319423"/>
            <a:ext cx="1670274" cy="20651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/>
        </p:nvSpPr>
        <p:spPr>
          <a:xfrm>
            <a:off x="-3176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506047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 Slide">
    <p:bg bwMode="grayWhite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7551" y="314302"/>
            <a:ext cx="7384264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7551" y="2346299"/>
            <a:ext cx="7384264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611" y="4164084"/>
            <a:ext cx="318844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7551" y="4191000"/>
            <a:ext cx="7384264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611" y="4633983"/>
            <a:ext cx="318844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611" y="5011672"/>
            <a:ext cx="318844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Web Site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611" y="5394605"/>
            <a:ext cx="318844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611" y="5735768"/>
            <a:ext cx="318844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</p:spTree>
    <p:extLst>
      <p:ext uri="{BB962C8B-B14F-4D97-AF65-F5344CB8AC3E}">
        <p14:creationId xmlns:p14="http://schemas.microsoft.com/office/powerpoint/2010/main" val="2163984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7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1" y="6454760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399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2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7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6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57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4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4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9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3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endParaRPr lang="en-US" noProof="1"/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310374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03F5F2-BA1B-4A39-A03D-AD9E04694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8816" y="6397196"/>
            <a:ext cx="808713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 latinLnBrk="0">
              <a:defRPr sz="1000">
                <a:solidFill>
                  <a:schemeClr val="tx1"/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BCD1B1-3A00-45B1-B516-6B8E7FBC4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7529" y="6397196"/>
            <a:ext cx="10567285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 latinLnBrk="0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02A4B2-CB08-42CE-A814-FBDF345C2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latinLnBrk="0">
              <a:defRPr sz="1000">
                <a:solidFill>
                  <a:schemeClr val="tx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9506047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13" y="1138844"/>
            <a:ext cx="11804822" cy="524290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8" r:id="rId2"/>
    <p:sldLayoutId id="2147483679" r:id="rId3"/>
    <p:sldLayoutId id="2147483680" r:id="rId4"/>
    <p:sldLayoutId id="2147483677" r:id="rId5"/>
    <p:sldLayoutId id="2147483683" r:id="rId6"/>
    <p:sldLayoutId id="2147483681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915" indent="-45691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989981" indent="-380762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523048" indent="-30461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2132267" indent="-30461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741485" indent="-30461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hyperlink" Target="https://softuni.bg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Terminology, Traversal and Operations</a:t>
            </a:r>
          </a:p>
        </p:txBody>
      </p:sp>
      <p:sp>
        <p:nvSpPr>
          <p:cNvPr id="30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Trees, Heaps and BST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http://softuni.bg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0"/>
          </p:nvPr>
        </p:nvSpPr>
        <p:spPr>
          <a:xfrm>
            <a:off x="671147" y="5368869"/>
            <a:ext cx="2951518" cy="444536"/>
          </a:xfrm>
        </p:spPr>
        <p:txBody>
          <a:bodyPr/>
          <a:lstStyle/>
          <a:p>
            <a:r>
              <a:rPr lang="en-US" dirty="0"/>
              <a:t>Technical Trainers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9"/>
          </p:nvPr>
        </p:nvSpPr>
        <p:spPr>
          <a:xfrm>
            <a:off x="671147" y="4876928"/>
            <a:ext cx="2951518" cy="506540"/>
          </a:xfrm>
        </p:spPr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11" name="TextBox 10"/>
          <p:cNvSpPr txBox="1"/>
          <p:nvPr/>
        </p:nvSpPr>
        <p:spPr>
          <a:xfrm rot="19997932">
            <a:off x="6782382" y="2085168"/>
            <a:ext cx="2776024" cy="60404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solidFill>
                  <a:schemeClr val="bg1"/>
                </a:solidFill>
              </a:rPr>
              <a:t>Heaps and BST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66859" y="2120386"/>
            <a:ext cx="3151561" cy="2510572"/>
            <a:chOff x="4114800" y="2007160"/>
            <a:chExt cx="3677696" cy="3044521"/>
          </a:xfrm>
          <a:solidFill>
            <a:schemeClr val="accent6">
              <a:lumMod val="40000"/>
              <a:lumOff val="60000"/>
              <a:alpha val="30000"/>
            </a:schemeClr>
          </a:solidFill>
        </p:grpSpPr>
        <p:sp>
          <p:nvSpPr>
            <p:cNvPr id="21" name="Oval 5"/>
            <p:cNvSpPr>
              <a:spLocks noChangeArrowheads="1"/>
            </p:cNvSpPr>
            <p:nvPr/>
          </p:nvSpPr>
          <p:spPr bwMode="auto">
            <a:xfrm>
              <a:off x="5845709" y="2007160"/>
              <a:ext cx="576246" cy="5657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22" name="Oval 6"/>
            <p:cNvSpPr>
              <a:spLocks noChangeArrowheads="1"/>
            </p:cNvSpPr>
            <p:nvPr/>
          </p:nvSpPr>
          <p:spPr bwMode="auto">
            <a:xfrm>
              <a:off x="6840424" y="3264327"/>
              <a:ext cx="576246" cy="5657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14</a:t>
              </a:r>
            </a:p>
          </p:txBody>
        </p:sp>
        <p:sp>
          <p:nvSpPr>
            <p:cNvPr id="23" name="Oval 7"/>
            <p:cNvSpPr>
              <a:spLocks noChangeArrowheads="1"/>
            </p:cNvSpPr>
            <p:nvPr/>
          </p:nvSpPr>
          <p:spPr bwMode="auto">
            <a:xfrm>
              <a:off x="4879405" y="3260848"/>
              <a:ext cx="575120" cy="5657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24" name="Oval 8"/>
            <p:cNvSpPr>
              <a:spLocks noChangeArrowheads="1"/>
            </p:cNvSpPr>
            <p:nvPr/>
          </p:nvSpPr>
          <p:spPr bwMode="auto">
            <a:xfrm>
              <a:off x="6454250" y="4464697"/>
              <a:ext cx="576246" cy="5657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23</a:t>
              </a:r>
            </a:p>
          </p:txBody>
        </p:sp>
        <p:sp>
          <p:nvSpPr>
            <p:cNvPr id="28" name="Oval 9"/>
            <p:cNvSpPr>
              <a:spLocks noChangeArrowheads="1"/>
            </p:cNvSpPr>
            <p:nvPr/>
          </p:nvSpPr>
          <p:spPr bwMode="auto">
            <a:xfrm>
              <a:off x="7213998" y="4465656"/>
              <a:ext cx="578498" cy="5657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9" name="Line 10"/>
            <p:cNvSpPr>
              <a:spLocks noChangeShapeType="1"/>
            </p:cNvSpPr>
            <p:nvPr/>
          </p:nvSpPr>
          <p:spPr bwMode="auto">
            <a:xfrm flipH="1">
              <a:off x="5315576" y="2528837"/>
              <a:ext cx="648119" cy="7770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2" name="Line 11"/>
            <p:cNvSpPr>
              <a:spLocks noChangeShapeType="1"/>
            </p:cNvSpPr>
            <p:nvPr/>
          </p:nvSpPr>
          <p:spPr bwMode="auto">
            <a:xfrm flipH="1">
              <a:off x="6817806" y="3818374"/>
              <a:ext cx="205990" cy="6497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3" name="Line 12"/>
            <p:cNvSpPr>
              <a:spLocks noChangeShapeType="1"/>
            </p:cNvSpPr>
            <p:nvPr/>
          </p:nvSpPr>
          <p:spPr bwMode="auto">
            <a:xfrm>
              <a:off x="7234812" y="3828422"/>
              <a:ext cx="226088" cy="6296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4" name="Line 13"/>
            <p:cNvSpPr>
              <a:spLocks noChangeShapeType="1"/>
            </p:cNvSpPr>
            <p:nvPr/>
          </p:nvSpPr>
          <p:spPr bwMode="auto">
            <a:xfrm>
              <a:off x="6305340" y="2528837"/>
              <a:ext cx="658168" cy="7770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5" name="Oval 6"/>
            <p:cNvSpPr>
              <a:spLocks noChangeArrowheads="1"/>
            </p:cNvSpPr>
            <p:nvPr/>
          </p:nvSpPr>
          <p:spPr bwMode="auto">
            <a:xfrm>
              <a:off x="5847304" y="3260688"/>
              <a:ext cx="576246" cy="5657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36" name="Line 13"/>
            <p:cNvSpPr>
              <a:spLocks noChangeShapeType="1"/>
            </p:cNvSpPr>
            <p:nvPr/>
          </p:nvSpPr>
          <p:spPr bwMode="auto">
            <a:xfrm flipH="1">
              <a:off x="6126141" y="2569031"/>
              <a:ext cx="8376" cy="6715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7" name="Oval 6"/>
            <p:cNvSpPr>
              <a:spLocks noChangeArrowheads="1"/>
            </p:cNvSpPr>
            <p:nvPr/>
          </p:nvSpPr>
          <p:spPr bwMode="auto">
            <a:xfrm>
              <a:off x="5637674" y="4477946"/>
              <a:ext cx="576246" cy="5657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  <p:sp>
          <p:nvSpPr>
            <p:cNvPr id="38" name="Oval 7"/>
            <p:cNvSpPr>
              <a:spLocks noChangeArrowheads="1"/>
            </p:cNvSpPr>
            <p:nvPr/>
          </p:nvSpPr>
          <p:spPr bwMode="auto">
            <a:xfrm>
              <a:off x="4114800" y="4485912"/>
              <a:ext cx="575120" cy="5657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39" name="Line 10"/>
            <p:cNvSpPr>
              <a:spLocks noChangeShapeType="1"/>
            </p:cNvSpPr>
            <p:nvPr/>
          </p:nvSpPr>
          <p:spPr bwMode="auto">
            <a:xfrm flipH="1">
              <a:off x="4516733" y="3763944"/>
              <a:ext cx="454995" cy="7343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0" name="Line 13"/>
            <p:cNvSpPr>
              <a:spLocks noChangeShapeType="1"/>
            </p:cNvSpPr>
            <p:nvPr/>
          </p:nvSpPr>
          <p:spPr bwMode="auto">
            <a:xfrm>
              <a:off x="5340698" y="3774833"/>
              <a:ext cx="462375" cy="7109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1" name="Oval 6"/>
            <p:cNvSpPr>
              <a:spLocks noChangeArrowheads="1"/>
            </p:cNvSpPr>
            <p:nvPr/>
          </p:nvSpPr>
          <p:spPr bwMode="auto">
            <a:xfrm>
              <a:off x="4878328" y="4485752"/>
              <a:ext cx="576246" cy="5657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12</a:t>
              </a:r>
            </a:p>
          </p:txBody>
        </p:sp>
        <p:sp>
          <p:nvSpPr>
            <p:cNvPr id="42" name="Line 13"/>
            <p:cNvSpPr>
              <a:spLocks noChangeShapeType="1"/>
            </p:cNvSpPr>
            <p:nvPr/>
          </p:nvSpPr>
          <p:spPr bwMode="auto">
            <a:xfrm>
              <a:off x="5154656" y="3838469"/>
              <a:ext cx="5172" cy="6296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906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47961" indent="-376238">
              <a:lnSpc>
                <a:spcPct val="100000"/>
              </a:lnSpc>
            </a:pPr>
            <a:r>
              <a:rPr lang="en-US" dirty="0"/>
              <a:t>Binary Trees</a:t>
            </a:r>
          </a:p>
          <a:p>
            <a:pPr marL="723900" lvl="1" indent="-376238">
              <a:lnSpc>
                <a:spcPct val="100000"/>
              </a:lnSpc>
            </a:pPr>
            <a:r>
              <a:rPr lang="en-US" noProof="1"/>
              <a:t>Traversal algorithms</a:t>
            </a:r>
            <a:endParaRPr lang="en-US" dirty="0"/>
          </a:p>
          <a:p>
            <a:pPr marL="247961" indent="-376238">
              <a:lnSpc>
                <a:spcPct val="100000"/>
              </a:lnSpc>
            </a:pPr>
            <a:r>
              <a:rPr lang="en-US" sz="3400" dirty="0"/>
              <a:t>Heaps</a:t>
            </a:r>
          </a:p>
          <a:p>
            <a:pPr marL="723900" lvl="1" indent="-376238">
              <a:lnSpc>
                <a:spcPct val="100000"/>
              </a:lnSpc>
            </a:pPr>
            <a:r>
              <a:rPr lang="en-US" sz="3200" dirty="0"/>
              <a:t>Binary heap, Min/Max heaps</a:t>
            </a:r>
          </a:p>
          <a:p>
            <a:pPr marL="247961" indent="-376238">
              <a:lnSpc>
                <a:spcPct val="100000"/>
              </a:lnSpc>
            </a:pPr>
            <a:r>
              <a:rPr lang="en-US" dirty="0"/>
              <a:t>PriorityQueue</a:t>
            </a:r>
          </a:p>
          <a:p>
            <a:pPr marL="247961" indent="-376238">
              <a:lnSpc>
                <a:spcPct val="100000"/>
              </a:lnSpc>
            </a:pPr>
            <a:r>
              <a:rPr lang="en-US" dirty="0"/>
              <a:t>Binary Search Trees</a:t>
            </a:r>
            <a:endParaRPr lang="en-US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6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287FCE-0667-4256-B6C3-85EEA9B999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8800" b="1" dirty="0">
                <a:solidFill>
                  <a:schemeClr val="bg1"/>
                </a:solidFill>
              </a:rPr>
              <a:t>sli.do</a:t>
            </a:r>
          </a:p>
          <a:p>
            <a:pPr marL="0" indent="0" algn="ctr">
              <a:buNone/>
            </a:pPr>
            <a:r>
              <a:rPr lang="en-US" sz="11500" b="1" dirty="0"/>
              <a:t>#ds-csharp</a:t>
            </a:r>
            <a:endParaRPr lang="bg-BG" sz="11500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2485852-BA6B-4D95-A06E-D18F832FE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047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Binary Trees and BT Traversal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Preorder, In-Order, Post-Order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6" y="1290406"/>
            <a:ext cx="2843787" cy="231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2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ADS representing tree like hierarchy</a:t>
            </a:r>
          </a:p>
          <a:p>
            <a:r>
              <a:rPr lang="en-US" dirty="0"/>
              <a:t>Each node has </a:t>
            </a:r>
            <a:r>
              <a:rPr lang="en-US" b="1" dirty="0">
                <a:solidFill>
                  <a:schemeClr val="bg1"/>
                </a:solidFill>
              </a:rPr>
              <a:t>at most two</a:t>
            </a:r>
            <a:r>
              <a:rPr lang="en-US" dirty="0"/>
              <a:t> children</a:t>
            </a:r>
          </a:p>
          <a:p>
            <a:pPr lvl="1"/>
            <a:r>
              <a:rPr lang="en-US" dirty="0"/>
              <a:t>Children are called </a:t>
            </a:r>
            <a:r>
              <a:rPr lang="en-US" b="1" dirty="0">
                <a:solidFill>
                  <a:schemeClr val="bg1"/>
                </a:solidFill>
              </a:rPr>
              <a:t>left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right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parent</a:t>
            </a:r>
            <a:r>
              <a:rPr lang="en-US" dirty="0"/>
              <a:t> is also called </a:t>
            </a:r>
            <a:r>
              <a:rPr lang="en-US" b="1" dirty="0">
                <a:solidFill>
                  <a:schemeClr val="bg1"/>
                </a:solidFill>
              </a:rPr>
              <a:t>source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5971497" y="3971713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</a:t>
            </a: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5302189" y="4998786"/>
            <a:ext cx="804124" cy="776329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</a:t>
            </a: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6570294" y="5000377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</a:t>
            </a: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 flipH="1">
            <a:off x="5836064" y="4675921"/>
            <a:ext cx="270248" cy="360524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6566675" y="4675921"/>
            <a:ext cx="218434" cy="37394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16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sym typeface="Symbol" pitchFamily="18" charset="2"/>
              </a:rPr>
              <a:t>Binary trees</a:t>
            </a:r>
            <a:r>
              <a:rPr lang="en-US" dirty="0">
                <a:sym typeface="Symbol" pitchFamily="18" charset="2"/>
              </a:rPr>
              <a:t>: the most widespread form</a:t>
            </a:r>
          </a:p>
          <a:p>
            <a:pPr lvl="1"/>
            <a:r>
              <a:rPr lang="en-US" dirty="0">
                <a:sym typeface="Symbol" pitchFamily="18" charset="2"/>
              </a:rPr>
              <a:t>Each node </a:t>
            </a:r>
            <a:r>
              <a:rPr lang="en-US" b="1" dirty="0">
                <a:solidFill>
                  <a:schemeClr val="bg1"/>
                </a:solidFill>
                <a:sym typeface="Symbol" pitchFamily="18" charset="2"/>
              </a:rPr>
              <a:t>has at most 2 children 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b="1" dirty="0">
                <a:solidFill>
                  <a:schemeClr val="bg1"/>
                </a:solidFill>
                <a:sym typeface="Symbol" pitchFamily="18" charset="2"/>
              </a:rPr>
              <a:t>left</a:t>
            </a:r>
            <a:r>
              <a:rPr lang="en-US" dirty="0">
                <a:sym typeface="Symbol" pitchFamily="18" charset="2"/>
              </a:rPr>
              <a:t> and </a:t>
            </a:r>
            <a:r>
              <a:rPr lang="en-US" b="1" dirty="0">
                <a:solidFill>
                  <a:schemeClr val="bg1"/>
                </a:solidFill>
                <a:sym typeface="Symbol" pitchFamily="18" charset="2"/>
              </a:rPr>
              <a:t>right</a:t>
            </a:r>
            <a:r>
              <a:rPr lang="en-US" dirty="0">
                <a:sym typeface="Symbol" pitchFamily="18" charset="2"/>
              </a:rPr>
              <a:t>)</a:t>
            </a:r>
            <a:endParaRPr lang="bg-BG" dirty="0">
              <a:sym typeface="Symbol" pitchFamily="18" charset="2"/>
            </a:endParaRPr>
          </a:p>
        </p:txBody>
      </p:sp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  <a:endParaRPr lang="bg-BG" dirty="0"/>
          </a:p>
        </p:txBody>
      </p:sp>
      <p:sp>
        <p:nvSpPr>
          <p:cNvPr id="23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74469" name="Oval 5"/>
          <p:cNvSpPr>
            <a:spLocks noChangeArrowheads="1"/>
          </p:cNvSpPr>
          <p:nvPr/>
        </p:nvSpPr>
        <p:spPr bwMode="auto">
          <a:xfrm>
            <a:off x="6102349" y="3275339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574470" name="Oval 6"/>
          <p:cNvSpPr>
            <a:spLocks noChangeArrowheads="1"/>
          </p:cNvSpPr>
          <p:nvPr/>
        </p:nvSpPr>
        <p:spPr bwMode="auto">
          <a:xfrm>
            <a:off x="7405877" y="4097664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15</a:t>
            </a:r>
          </a:p>
        </p:txBody>
      </p:sp>
      <p:sp>
        <p:nvSpPr>
          <p:cNvPr id="574471" name="Oval 7"/>
          <p:cNvSpPr>
            <a:spLocks noChangeArrowheads="1"/>
          </p:cNvSpPr>
          <p:nvPr/>
        </p:nvSpPr>
        <p:spPr bwMode="auto">
          <a:xfrm>
            <a:off x="4403108" y="4097664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574472" name="Oval 8"/>
          <p:cNvSpPr>
            <a:spLocks noChangeArrowheads="1"/>
          </p:cNvSpPr>
          <p:nvPr/>
        </p:nvSpPr>
        <p:spPr bwMode="auto">
          <a:xfrm>
            <a:off x="3733800" y="5124737"/>
            <a:ext cx="804124" cy="776329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6</a:t>
            </a:r>
          </a:p>
        </p:txBody>
      </p:sp>
      <p:sp>
        <p:nvSpPr>
          <p:cNvPr id="574473" name="Oval 9"/>
          <p:cNvSpPr>
            <a:spLocks noChangeArrowheads="1"/>
          </p:cNvSpPr>
          <p:nvPr/>
        </p:nvSpPr>
        <p:spPr bwMode="auto">
          <a:xfrm>
            <a:off x="5001905" y="5126328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574474" name="Line 10"/>
          <p:cNvSpPr>
            <a:spLocks noChangeShapeType="1"/>
          </p:cNvSpPr>
          <p:nvPr/>
        </p:nvSpPr>
        <p:spPr bwMode="auto">
          <a:xfrm flipH="1">
            <a:off x="5160442" y="3797905"/>
            <a:ext cx="969202" cy="50114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74475" name="Line 11"/>
          <p:cNvSpPr>
            <a:spLocks noChangeShapeType="1"/>
          </p:cNvSpPr>
          <p:nvPr/>
        </p:nvSpPr>
        <p:spPr bwMode="auto">
          <a:xfrm flipH="1">
            <a:off x="4267676" y="4741196"/>
            <a:ext cx="266631" cy="42120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74476" name="Line 12"/>
          <p:cNvSpPr>
            <a:spLocks noChangeShapeType="1"/>
          </p:cNvSpPr>
          <p:nvPr/>
        </p:nvSpPr>
        <p:spPr bwMode="auto">
          <a:xfrm>
            <a:off x="4998286" y="4801872"/>
            <a:ext cx="218434" cy="37394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74477" name="Line 13"/>
          <p:cNvSpPr>
            <a:spLocks noChangeShapeType="1"/>
          </p:cNvSpPr>
          <p:nvPr/>
        </p:nvSpPr>
        <p:spPr bwMode="auto">
          <a:xfrm>
            <a:off x="6851667" y="3863545"/>
            <a:ext cx="626157" cy="41767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74478" name="Oval 14"/>
          <p:cNvSpPr>
            <a:spLocks noChangeArrowheads="1"/>
          </p:cNvSpPr>
          <p:nvPr/>
        </p:nvSpPr>
        <p:spPr bwMode="auto">
          <a:xfrm>
            <a:off x="6637360" y="5031423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8</a:t>
            </a:r>
          </a:p>
        </p:txBody>
      </p:sp>
      <p:sp>
        <p:nvSpPr>
          <p:cNvPr id="574479" name="Line 15"/>
          <p:cNvSpPr>
            <a:spLocks noChangeShapeType="1"/>
          </p:cNvSpPr>
          <p:nvPr/>
        </p:nvSpPr>
        <p:spPr bwMode="auto">
          <a:xfrm flipH="1">
            <a:off x="7257749" y="4801873"/>
            <a:ext cx="300914" cy="308305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74481" name="AutoShape 17"/>
          <p:cNvSpPr>
            <a:spLocks noChangeArrowheads="1"/>
          </p:cNvSpPr>
          <p:nvPr/>
        </p:nvSpPr>
        <p:spPr bwMode="auto">
          <a:xfrm>
            <a:off x="2921828" y="3436956"/>
            <a:ext cx="3737060" cy="2711632"/>
          </a:xfrm>
          <a:prstGeom prst="triangle">
            <a:avLst>
              <a:gd name="adj" fmla="val 50569"/>
            </a:avLst>
          </a:prstGeom>
          <a:noFill/>
          <a:ln w="22225">
            <a:solidFill>
              <a:srgbClr val="00206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AutoShape 5"/>
          <p:cNvSpPr>
            <a:spLocks noChangeArrowheads="1"/>
          </p:cNvSpPr>
          <p:nvPr/>
        </p:nvSpPr>
        <p:spPr bwMode="auto">
          <a:xfrm>
            <a:off x="3581976" y="2719436"/>
            <a:ext cx="2209225" cy="557164"/>
          </a:xfrm>
          <a:prstGeom prst="wedgeRoundRectCallout">
            <a:avLst>
              <a:gd name="adj1" fmla="val 64507"/>
              <a:gd name="adj2" fmla="val 5424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node</a:t>
            </a:r>
            <a:endParaRPr lang="bg-BG" sz="2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2075384" y="3776904"/>
            <a:ext cx="1404195" cy="987504"/>
          </a:xfrm>
          <a:prstGeom prst="wedgeRoundRectCallout">
            <a:avLst>
              <a:gd name="adj1" fmla="val 92905"/>
              <a:gd name="adj2" fmla="val 404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Left</a:t>
            </a:r>
          </a:p>
          <a:p>
            <a:pPr algn="ctr" eaLnBrk="0" hangingPunct="0"/>
            <a:r>
              <a:rPr lang="en-US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subtree</a:t>
            </a:r>
            <a:endParaRPr lang="bg-BG" sz="2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AutoShape 5"/>
          <p:cNvSpPr>
            <a:spLocks noChangeArrowheads="1"/>
          </p:cNvSpPr>
          <p:nvPr/>
        </p:nvSpPr>
        <p:spPr bwMode="auto">
          <a:xfrm>
            <a:off x="8458201" y="3411403"/>
            <a:ext cx="2209225" cy="544830"/>
          </a:xfrm>
          <a:prstGeom prst="wedgeRoundRectCallout">
            <a:avLst>
              <a:gd name="adj1" fmla="val -65978"/>
              <a:gd name="adj2" fmla="val 6326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 child</a:t>
            </a:r>
            <a:endParaRPr lang="bg-BG" sz="2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7696776" y="5949767"/>
            <a:ext cx="2209225" cy="544830"/>
          </a:xfrm>
          <a:prstGeom prst="wedgeRoundRectCallout">
            <a:avLst>
              <a:gd name="adj1" fmla="val -65490"/>
              <a:gd name="adj2" fmla="val -6101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Left child</a:t>
            </a:r>
            <a:endParaRPr lang="bg-BG" sz="2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149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9" grpId="0" animBg="1"/>
      <p:bldP spid="574470" grpId="0" animBg="1"/>
      <p:bldP spid="574471" grpId="0" animBg="1"/>
      <p:bldP spid="574472" grpId="0" animBg="1"/>
      <p:bldP spid="574473" grpId="0" animBg="1"/>
      <p:bldP spid="574474" grpId="0" animBg="1"/>
      <p:bldP spid="574475" grpId="0" animBg="1"/>
      <p:bldP spid="574476" grpId="0" animBg="1"/>
      <p:bldP spid="574477" grpId="0" animBg="1"/>
      <p:bldP spid="574478" grpId="0" animBg="1"/>
      <p:bldP spid="574479" grpId="0" animBg="1"/>
      <p:bldP spid="574481" grpId="0" animBg="1"/>
      <p:bldP spid="27" grpId="0" animBg="1"/>
      <p:bldP spid="28" grpId="0" animBg="1"/>
      <p:bldP spid="29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Binary Trees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Full</a:t>
            </a:r>
            <a:r>
              <a:rPr lang="en-US" dirty="0"/>
              <a:t> – each node has </a:t>
            </a:r>
            <a:r>
              <a:rPr lang="en-US" b="1" dirty="0">
                <a:solidFill>
                  <a:schemeClr val="bg1"/>
                </a:solidFill>
              </a:rPr>
              <a:t>0</a:t>
            </a:r>
            <a:r>
              <a:rPr lang="en-US" dirty="0"/>
              <a:t> or </a:t>
            </a:r>
            <a:r>
              <a:rPr lang="en-US" b="1" dirty="0">
                <a:solidFill>
                  <a:schemeClr val="bg1"/>
                </a:solidFill>
              </a:rPr>
              <a:t>2</a:t>
            </a:r>
            <a:r>
              <a:rPr lang="en-US" dirty="0"/>
              <a:t> children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6208881" y="2456217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7512409" y="3278542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15</a:t>
            </a:r>
          </a:p>
        </p:txBody>
      </p:sp>
      <p:sp>
        <p:nvSpPr>
          <p:cNvPr id="11" name="Oval 7"/>
          <p:cNvSpPr>
            <a:spLocks noChangeArrowheads="1"/>
          </p:cNvSpPr>
          <p:nvPr/>
        </p:nvSpPr>
        <p:spPr bwMode="auto">
          <a:xfrm>
            <a:off x="4509640" y="3278542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>
            <a:off x="3840332" y="4305615"/>
            <a:ext cx="804124" cy="776329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6</a:t>
            </a:r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5108437" y="4307206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 flipH="1">
            <a:off x="5266974" y="2978783"/>
            <a:ext cx="969202" cy="50114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H="1">
            <a:off x="4374208" y="3922074"/>
            <a:ext cx="266631" cy="42120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5104818" y="3982750"/>
            <a:ext cx="218434" cy="37394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6958199" y="3044423"/>
            <a:ext cx="626157" cy="41767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47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Binary Trees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Complete</a:t>
            </a:r>
            <a:r>
              <a:rPr lang="en-US" dirty="0"/>
              <a:t> – nodes are filled </a:t>
            </a:r>
            <a:r>
              <a:rPr lang="en-US" b="1" dirty="0">
                <a:solidFill>
                  <a:schemeClr val="bg1"/>
                </a:solidFill>
              </a:rPr>
              <a:t>top</a:t>
            </a:r>
            <a:r>
              <a:rPr lang="en-US" dirty="0"/>
              <a:t> to </a:t>
            </a:r>
            <a:r>
              <a:rPr lang="en-US" b="1" dirty="0">
                <a:solidFill>
                  <a:schemeClr val="bg1"/>
                </a:solidFill>
              </a:rPr>
              <a:t>bottom</a:t>
            </a:r>
            <a:r>
              <a:rPr lang="en-US" dirty="0"/>
              <a:t>                    and </a:t>
            </a:r>
            <a:r>
              <a:rPr lang="en-US" b="1" dirty="0">
                <a:solidFill>
                  <a:schemeClr val="bg1"/>
                </a:solidFill>
              </a:rPr>
              <a:t>left</a:t>
            </a:r>
            <a:r>
              <a:rPr lang="en-US" dirty="0"/>
              <a:t> to </a:t>
            </a:r>
            <a:r>
              <a:rPr lang="en-US" b="1" dirty="0">
                <a:solidFill>
                  <a:schemeClr val="bg1"/>
                </a:solidFill>
              </a:rPr>
              <a:t>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6208881" y="2456217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7512409" y="3278542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15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4509640" y="3278542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3840332" y="4305615"/>
            <a:ext cx="804124" cy="776329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6</a:t>
            </a: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5108437" y="4307206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5266974" y="2978783"/>
            <a:ext cx="969202" cy="50114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4374208" y="3922074"/>
            <a:ext cx="266631" cy="42120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5104818" y="3982750"/>
            <a:ext cx="218434" cy="37394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6958199" y="3044423"/>
            <a:ext cx="626157" cy="41767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6743892" y="4212301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8</a:t>
            </a: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7364281" y="3982751"/>
            <a:ext cx="300914" cy="308305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 flipH="1">
            <a:off x="3707016" y="4988630"/>
            <a:ext cx="266631" cy="42120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4503563" y="5012257"/>
            <a:ext cx="218434" cy="37394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" name="Oval 8"/>
          <p:cNvSpPr>
            <a:spLocks noChangeArrowheads="1"/>
          </p:cNvSpPr>
          <p:nvPr/>
        </p:nvSpPr>
        <p:spPr bwMode="auto">
          <a:xfrm>
            <a:off x="3169523" y="5384828"/>
            <a:ext cx="804124" cy="776329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13</a:t>
            </a:r>
          </a:p>
        </p:txBody>
      </p:sp>
      <p:sp>
        <p:nvSpPr>
          <p:cNvPr id="21" name="Oval 9"/>
          <p:cNvSpPr>
            <a:spLocks noChangeArrowheads="1"/>
          </p:cNvSpPr>
          <p:nvPr/>
        </p:nvSpPr>
        <p:spPr bwMode="auto">
          <a:xfrm>
            <a:off x="4374208" y="5400421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42</a:t>
            </a:r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8145098" y="4007703"/>
            <a:ext cx="232134" cy="204594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Oval 14"/>
          <p:cNvSpPr>
            <a:spLocks noChangeArrowheads="1"/>
          </p:cNvSpPr>
          <p:nvPr/>
        </p:nvSpPr>
        <p:spPr bwMode="auto">
          <a:xfrm>
            <a:off x="7955705" y="4212301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25677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Binary Trees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Perfect</a:t>
            </a:r>
            <a:r>
              <a:rPr lang="en-US" dirty="0"/>
              <a:t> – combines </a:t>
            </a:r>
            <a:r>
              <a:rPr lang="en-US" b="1" dirty="0">
                <a:solidFill>
                  <a:schemeClr val="bg1"/>
                </a:solidFill>
              </a:rPr>
              <a:t>complete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full</a:t>
            </a:r>
          </a:p>
          <a:p>
            <a:pPr lvl="1"/>
            <a:r>
              <a:rPr lang="en-US" dirty="0"/>
              <a:t>leafs are at the </a:t>
            </a:r>
            <a:r>
              <a:rPr lang="en-US" sz="3398" b="1" dirty="0">
                <a:solidFill>
                  <a:schemeClr val="bg1"/>
                </a:solidFill>
              </a:rPr>
              <a:t>same</a:t>
            </a:r>
            <a:r>
              <a:rPr lang="en-US" dirty="0"/>
              <a:t> </a:t>
            </a:r>
            <a:r>
              <a:rPr lang="en-US" sz="3398" b="1" dirty="0">
                <a:solidFill>
                  <a:schemeClr val="bg1"/>
                </a:solidFill>
              </a:rPr>
              <a:t>level</a:t>
            </a:r>
            <a:r>
              <a:rPr lang="en-US" dirty="0"/>
              <a:t>, other nodes                  have </a:t>
            </a:r>
            <a:r>
              <a:rPr lang="en-US" sz="3398" b="1" dirty="0">
                <a:solidFill>
                  <a:schemeClr val="bg1"/>
                </a:solidFill>
              </a:rPr>
              <a:t>two</a:t>
            </a:r>
            <a:r>
              <a:rPr lang="en-US" dirty="0"/>
              <a:t> children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6707163" y="2638966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8010691" y="3461291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15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5007922" y="3461291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3858915" y="4516648"/>
            <a:ext cx="804124" cy="776329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6</a:t>
            </a: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5606719" y="4489955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5765256" y="3161532"/>
            <a:ext cx="969202" cy="50114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4392791" y="4029086"/>
            <a:ext cx="669750" cy="529075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5622640" y="4190451"/>
            <a:ext cx="198893" cy="348993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7456481" y="3227172"/>
            <a:ext cx="626157" cy="41767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7242174" y="4395050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8</a:t>
            </a: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7862563" y="4165500"/>
            <a:ext cx="300914" cy="308305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 flipH="1">
            <a:off x="3725599" y="5199663"/>
            <a:ext cx="266631" cy="42120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4390462" y="5292976"/>
            <a:ext cx="131684" cy="302883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" name="Oval 8"/>
          <p:cNvSpPr>
            <a:spLocks noChangeArrowheads="1"/>
          </p:cNvSpPr>
          <p:nvPr/>
        </p:nvSpPr>
        <p:spPr bwMode="auto">
          <a:xfrm>
            <a:off x="3188008" y="5603095"/>
            <a:ext cx="804124" cy="776329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13</a:t>
            </a:r>
          </a:p>
        </p:txBody>
      </p:sp>
      <p:sp>
        <p:nvSpPr>
          <p:cNvPr id="21" name="Oval 9"/>
          <p:cNvSpPr>
            <a:spLocks noChangeArrowheads="1"/>
          </p:cNvSpPr>
          <p:nvPr/>
        </p:nvSpPr>
        <p:spPr bwMode="auto">
          <a:xfrm>
            <a:off x="4118908" y="5595860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42</a:t>
            </a:r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8742404" y="4102719"/>
            <a:ext cx="439652" cy="455441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Oval 14"/>
          <p:cNvSpPr>
            <a:spLocks noChangeArrowheads="1"/>
          </p:cNvSpPr>
          <p:nvPr/>
        </p:nvSpPr>
        <p:spPr bwMode="auto">
          <a:xfrm>
            <a:off x="9064877" y="4470584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23</a:t>
            </a:r>
          </a:p>
        </p:txBody>
      </p:sp>
      <p:sp>
        <p:nvSpPr>
          <p:cNvPr id="24" name="Line 11"/>
          <p:cNvSpPr>
            <a:spLocks noChangeShapeType="1"/>
          </p:cNvSpPr>
          <p:nvPr/>
        </p:nvSpPr>
        <p:spPr bwMode="auto">
          <a:xfrm flipH="1">
            <a:off x="5473403" y="5190856"/>
            <a:ext cx="266631" cy="42120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5" name="Line 12"/>
          <p:cNvSpPr>
            <a:spLocks noChangeShapeType="1"/>
          </p:cNvSpPr>
          <p:nvPr/>
        </p:nvSpPr>
        <p:spPr bwMode="auto">
          <a:xfrm>
            <a:off x="6034995" y="5246913"/>
            <a:ext cx="218434" cy="37394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" name="Oval 8"/>
          <p:cNvSpPr>
            <a:spLocks noChangeArrowheads="1"/>
          </p:cNvSpPr>
          <p:nvPr/>
        </p:nvSpPr>
        <p:spPr bwMode="auto">
          <a:xfrm>
            <a:off x="4990280" y="5595859"/>
            <a:ext cx="804124" cy="776329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7</a:t>
            </a:r>
          </a:p>
        </p:txBody>
      </p:sp>
      <p:sp>
        <p:nvSpPr>
          <p:cNvPr id="27" name="Oval 9"/>
          <p:cNvSpPr>
            <a:spLocks noChangeArrowheads="1"/>
          </p:cNvSpPr>
          <p:nvPr/>
        </p:nvSpPr>
        <p:spPr bwMode="auto">
          <a:xfrm>
            <a:off x="5923197" y="5620863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 flipH="1">
            <a:off x="7325815" y="5171379"/>
            <a:ext cx="185472" cy="44015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7882956" y="5095470"/>
            <a:ext cx="222885" cy="524861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0" name="Oval 8"/>
          <p:cNvSpPr>
            <a:spLocks noChangeArrowheads="1"/>
          </p:cNvSpPr>
          <p:nvPr/>
        </p:nvSpPr>
        <p:spPr bwMode="auto">
          <a:xfrm>
            <a:off x="6842692" y="5595332"/>
            <a:ext cx="804124" cy="776329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31" name="Oval 9"/>
          <p:cNvSpPr>
            <a:spLocks noChangeArrowheads="1"/>
          </p:cNvSpPr>
          <p:nvPr/>
        </p:nvSpPr>
        <p:spPr bwMode="auto">
          <a:xfrm>
            <a:off x="7775609" y="5620336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31</a:t>
            </a:r>
          </a:p>
        </p:txBody>
      </p:sp>
      <p:sp>
        <p:nvSpPr>
          <p:cNvPr id="32" name="Line 11"/>
          <p:cNvSpPr>
            <a:spLocks noChangeShapeType="1"/>
          </p:cNvSpPr>
          <p:nvPr/>
        </p:nvSpPr>
        <p:spPr bwMode="auto">
          <a:xfrm flipH="1">
            <a:off x="9155990" y="5199587"/>
            <a:ext cx="131186" cy="411941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3" name="Line 12"/>
          <p:cNvSpPr>
            <a:spLocks noChangeShapeType="1"/>
          </p:cNvSpPr>
          <p:nvPr/>
        </p:nvSpPr>
        <p:spPr bwMode="auto">
          <a:xfrm>
            <a:off x="9722181" y="5199663"/>
            <a:ext cx="213835" cy="420668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4" name="Oval 8"/>
          <p:cNvSpPr>
            <a:spLocks noChangeArrowheads="1"/>
          </p:cNvSpPr>
          <p:nvPr/>
        </p:nvSpPr>
        <p:spPr bwMode="auto">
          <a:xfrm>
            <a:off x="8672867" y="5595332"/>
            <a:ext cx="804124" cy="776329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96</a:t>
            </a:r>
          </a:p>
        </p:txBody>
      </p:sp>
      <p:sp>
        <p:nvSpPr>
          <p:cNvPr id="35" name="Oval 9"/>
          <p:cNvSpPr>
            <a:spLocks noChangeArrowheads="1"/>
          </p:cNvSpPr>
          <p:nvPr/>
        </p:nvSpPr>
        <p:spPr bwMode="auto">
          <a:xfrm>
            <a:off x="9605784" y="5620336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325268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7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190402" y="1196125"/>
            <a:ext cx="11818096" cy="5509916"/>
          </a:xfrm>
        </p:spPr>
        <p:txBody>
          <a:bodyPr>
            <a:normAutofit/>
          </a:bodyPr>
          <a:lstStyle/>
          <a:p>
            <a:r>
              <a:rPr lang="en-US" altLang="ko-KR" dirty="0"/>
              <a:t>Inside the given skeleton</a:t>
            </a:r>
          </a:p>
          <a:p>
            <a:pPr lvl="1"/>
            <a:r>
              <a:rPr lang="en-US" altLang="ko-KR" dirty="0"/>
              <a:t>Implement </a:t>
            </a:r>
            <a:r>
              <a:rPr lang="en-US" altLang="ko-KR" b="1" dirty="0" err="1">
                <a:solidFill>
                  <a:schemeClr val="bg1"/>
                </a:solidFill>
              </a:rPr>
              <a:t>I</a:t>
            </a:r>
            <a:r>
              <a:rPr lang="en-US" altLang="ko-KR" sz="3200" b="1" dirty="0" err="1">
                <a:solidFill>
                  <a:schemeClr val="bg1"/>
                </a:solidFill>
              </a:rPr>
              <a:t>Abstract</a:t>
            </a:r>
            <a:r>
              <a:rPr lang="en-US" altLang="ko-KR" b="1" dirty="0" err="1">
                <a:solidFill>
                  <a:schemeClr val="bg1"/>
                </a:solidFill>
              </a:rPr>
              <a:t>BinaryTree</a:t>
            </a:r>
            <a:r>
              <a:rPr lang="en-US" altLang="ko-KR" b="1" dirty="0"/>
              <a:t>&lt;</a:t>
            </a:r>
            <a:r>
              <a:rPr lang="en-US" altLang="ko-KR" b="1" dirty="0">
                <a:solidFill>
                  <a:schemeClr val="bg1"/>
                </a:solidFill>
              </a:rPr>
              <a:t>T</a:t>
            </a:r>
            <a:r>
              <a:rPr lang="en-US" altLang="ko-KR" b="1" dirty="0"/>
              <a:t>&gt;</a:t>
            </a:r>
          </a:p>
          <a:p>
            <a:pPr lvl="1">
              <a:spcAft>
                <a:spcPts val="14000"/>
              </a:spcAft>
            </a:pPr>
            <a:r>
              <a:rPr lang="en-US" altLang="ko-KR" dirty="0"/>
              <a:t>Implement </a:t>
            </a:r>
            <a:r>
              <a:rPr lang="en-US" altLang="ko-KR" b="1" dirty="0">
                <a:solidFill>
                  <a:schemeClr val="bg1"/>
                </a:solidFill>
              </a:rPr>
              <a:t>As</a:t>
            </a:r>
            <a:r>
              <a:rPr lang="en-GB" b="1" dirty="0">
                <a:solidFill>
                  <a:schemeClr val="bg1"/>
                </a:solidFill>
              </a:rPr>
              <a:t>IndentedPreOrder</a:t>
            </a:r>
            <a:r>
              <a:rPr lang="en-US" altLang="ko-KR" dirty="0"/>
              <a:t>,                                                                 each level indented +2</a:t>
            </a:r>
          </a:p>
          <a:p>
            <a:pPr lvl="1">
              <a:buClr>
                <a:schemeClr val="tx1"/>
              </a:buClr>
            </a:pP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PreOrder</a:t>
            </a:r>
            <a:r>
              <a:rPr lang="en-US" altLang="ko-KR" dirty="0"/>
              <a:t>,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InOrder</a:t>
            </a:r>
            <a:r>
              <a:rPr lang="en-US" altLang="ko-KR" dirty="0"/>
              <a:t> and </a:t>
            </a:r>
            <a:r>
              <a:rPr lang="en-US" altLang="ko-KR" b="1" dirty="0" err="1">
                <a:solidFill>
                  <a:schemeClr val="bg1"/>
                </a:solidFill>
              </a:rPr>
              <a:t>PostOrder</a:t>
            </a:r>
            <a:endParaRPr lang="en-US" altLang="ko-KR" b="1" dirty="0">
              <a:solidFill>
                <a:schemeClr val="bg1"/>
              </a:solidFill>
            </a:endParaRPr>
          </a:p>
          <a:p>
            <a:pPr lvl="2"/>
            <a:r>
              <a:rPr lang="en-US" altLang="ko-KR" dirty="0"/>
              <a:t>Return the nodes as list </a:t>
            </a:r>
            <a:r>
              <a:rPr lang="en-US" altLang="en-US" sz="3200" b="1" dirty="0">
                <a:solidFill>
                  <a:schemeClr val="bg1"/>
                </a:solidFill>
              </a:rPr>
              <a:t>List</a:t>
            </a:r>
            <a:r>
              <a:rPr lang="en-US" altLang="en-US" sz="3198" b="1" dirty="0"/>
              <a:t>&lt;</a:t>
            </a:r>
            <a:r>
              <a:rPr lang="en-US" altLang="ko-KR" sz="3200" b="1" dirty="0" err="1">
                <a:solidFill>
                  <a:schemeClr val="bg1"/>
                </a:solidFill>
              </a:rPr>
              <a:t>IAbstractBinaryTree</a:t>
            </a:r>
            <a:r>
              <a:rPr lang="en-US" altLang="ko-KR" sz="3200" b="1" dirty="0"/>
              <a:t>&lt;</a:t>
            </a:r>
            <a:r>
              <a:rPr lang="en-US" altLang="ko-KR" sz="3200" b="1" dirty="0">
                <a:solidFill>
                  <a:schemeClr val="bg1"/>
                </a:solidFill>
              </a:rPr>
              <a:t>T</a:t>
            </a:r>
            <a:r>
              <a:rPr lang="en-US" altLang="ko-KR" sz="3200" b="1" dirty="0"/>
              <a:t>&gt;&gt;</a:t>
            </a:r>
            <a:endParaRPr lang="en-US" altLang="en-US" sz="3198" b="1" dirty="0"/>
          </a:p>
        </p:txBody>
      </p:sp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Problem: Binary Tree Traversals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4550257" y="3330007"/>
            <a:ext cx="3662778" cy="2331868"/>
            <a:chOff x="6170612" y="2286000"/>
            <a:chExt cx="5105400" cy="3633673"/>
          </a:xfrm>
        </p:grpSpPr>
        <p:grpSp>
          <p:nvGrpSpPr>
            <p:cNvPr id="19" name="Group 18"/>
            <p:cNvGrpSpPr/>
            <p:nvPr/>
          </p:nvGrpSpPr>
          <p:grpSpPr>
            <a:xfrm>
              <a:off x="6896986" y="2286000"/>
              <a:ext cx="3602436" cy="2805768"/>
              <a:chOff x="4623619" y="2007160"/>
              <a:chExt cx="2931132" cy="2423139"/>
            </a:xfrm>
          </p:grpSpPr>
          <p:sp>
            <p:nvSpPr>
              <p:cNvPr id="21" name="Oval 5"/>
              <p:cNvSpPr>
                <a:spLocks noChangeArrowheads="1"/>
              </p:cNvSpPr>
              <p:nvPr/>
            </p:nvSpPr>
            <p:spPr bwMode="auto">
              <a:xfrm>
                <a:off x="5778290" y="2007160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b="1" dirty="0">
                    <a:latin typeface="Consolas" pitchFamily="49" charset="0"/>
                    <a:cs typeface="Consolas" pitchFamily="49" charset="0"/>
                  </a:rPr>
                  <a:t>17</a:t>
                </a:r>
              </a:p>
            </p:txBody>
          </p:sp>
          <p:sp>
            <p:nvSpPr>
              <p:cNvPr id="22" name="Oval 6"/>
              <p:cNvSpPr>
                <a:spLocks noChangeArrowheads="1"/>
              </p:cNvSpPr>
              <p:nvPr/>
            </p:nvSpPr>
            <p:spPr bwMode="auto">
              <a:xfrm>
                <a:off x="6577489" y="2887373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b="1" dirty="0">
                    <a:latin typeface="Consolas" pitchFamily="49" charset="0"/>
                    <a:cs typeface="Consolas" pitchFamily="49" charset="0"/>
                  </a:rPr>
                  <a:t>25</a:t>
                </a:r>
              </a:p>
            </p:txBody>
          </p:sp>
          <p:sp>
            <p:nvSpPr>
              <p:cNvPr id="23" name="Oval 7"/>
              <p:cNvSpPr>
                <a:spLocks noChangeArrowheads="1"/>
              </p:cNvSpPr>
              <p:nvPr/>
            </p:nvSpPr>
            <p:spPr bwMode="auto">
              <a:xfrm>
                <a:off x="5018202" y="2881786"/>
                <a:ext cx="575120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b="1" dirty="0">
                    <a:latin typeface="Consolas" pitchFamily="49" charset="0"/>
                    <a:cs typeface="Consolas" pitchFamily="49" charset="0"/>
                  </a:rPr>
                  <a:t>9</a:t>
                </a:r>
              </a:p>
            </p:txBody>
          </p:sp>
          <p:sp>
            <p:nvSpPr>
              <p:cNvPr id="24" name="Oval 8"/>
              <p:cNvSpPr>
                <a:spLocks noChangeArrowheads="1"/>
              </p:cNvSpPr>
              <p:nvPr/>
            </p:nvSpPr>
            <p:spPr bwMode="auto">
              <a:xfrm>
                <a:off x="6183940" y="3864530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b="1" dirty="0">
                    <a:latin typeface="Consolas" pitchFamily="49" charset="0"/>
                    <a:cs typeface="Consolas" pitchFamily="49" charset="0"/>
                  </a:rPr>
                  <a:t>20</a:t>
                </a:r>
              </a:p>
            </p:txBody>
          </p:sp>
          <p:sp>
            <p:nvSpPr>
              <p:cNvPr id="25" name="Oval 9"/>
              <p:cNvSpPr>
                <a:spLocks noChangeArrowheads="1"/>
              </p:cNvSpPr>
              <p:nvPr/>
            </p:nvSpPr>
            <p:spPr bwMode="auto">
              <a:xfrm>
                <a:off x="6976253" y="3848886"/>
                <a:ext cx="578498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b="1" dirty="0">
                    <a:latin typeface="Consolas" pitchFamily="49" charset="0"/>
                    <a:cs typeface="Consolas" pitchFamily="49" charset="0"/>
                  </a:rPr>
                  <a:t>31</a:t>
                </a:r>
              </a:p>
            </p:txBody>
          </p:sp>
          <p:sp>
            <p:nvSpPr>
              <p:cNvPr id="26" name="Line 10"/>
              <p:cNvSpPr>
                <a:spLocks noChangeShapeType="1"/>
              </p:cNvSpPr>
              <p:nvPr/>
            </p:nvSpPr>
            <p:spPr bwMode="auto">
              <a:xfrm flipH="1">
                <a:off x="5508741" y="2488255"/>
                <a:ext cx="372000" cy="4725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27" name="Line 11"/>
              <p:cNvSpPr>
                <a:spLocks noChangeShapeType="1"/>
              </p:cNvSpPr>
              <p:nvPr/>
            </p:nvSpPr>
            <p:spPr bwMode="auto">
              <a:xfrm flipH="1">
                <a:off x="6499042" y="3420189"/>
                <a:ext cx="261142" cy="44434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28" name="Line 12"/>
              <p:cNvSpPr>
                <a:spLocks noChangeShapeType="1"/>
              </p:cNvSpPr>
              <p:nvPr/>
            </p:nvSpPr>
            <p:spPr bwMode="auto">
              <a:xfrm>
                <a:off x="6992759" y="3420189"/>
                <a:ext cx="206532" cy="44434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29" name="Line 13"/>
              <p:cNvSpPr>
                <a:spLocks noChangeShapeType="1"/>
              </p:cNvSpPr>
              <p:nvPr/>
            </p:nvSpPr>
            <p:spPr bwMode="auto">
              <a:xfrm>
                <a:off x="6290070" y="2488255"/>
                <a:ext cx="408393" cy="4725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30" name="Oval 6"/>
              <p:cNvSpPr>
                <a:spLocks noChangeArrowheads="1"/>
              </p:cNvSpPr>
              <p:nvPr/>
            </p:nvSpPr>
            <p:spPr bwMode="auto">
              <a:xfrm>
                <a:off x="5406949" y="3841086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b="1" dirty="0">
                    <a:latin typeface="Consolas" pitchFamily="49" charset="0"/>
                    <a:cs typeface="Consolas" pitchFamily="49" charset="0"/>
                  </a:rPr>
                  <a:t>11</a:t>
                </a:r>
              </a:p>
            </p:txBody>
          </p:sp>
          <p:sp>
            <p:nvSpPr>
              <p:cNvPr id="31" name="Oval 7"/>
              <p:cNvSpPr>
                <a:spLocks noChangeArrowheads="1"/>
              </p:cNvSpPr>
              <p:nvPr/>
            </p:nvSpPr>
            <p:spPr bwMode="auto">
              <a:xfrm>
                <a:off x="4623619" y="3841086"/>
                <a:ext cx="575120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b="1" dirty="0"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32" name="Line 10"/>
              <p:cNvSpPr>
                <a:spLocks noChangeShapeType="1"/>
              </p:cNvSpPr>
              <p:nvPr/>
            </p:nvSpPr>
            <p:spPr bwMode="auto">
              <a:xfrm flipH="1">
                <a:off x="4919537" y="3420189"/>
                <a:ext cx="234315" cy="44434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33" name="Line 13"/>
              <p:cNvSpPr>
                <a:spLocks noChangeShapeType="1"/>
              </p:cNvSpPr>
              <p:nvPr/>
            </p:nvSpPr>
            <p:spPr bwMode="auto">
              <a:xfrm>
                <a:off x="5431313" y="3420189"/>
                <a:ext cx="216258" cy="43762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6170612" y="5334000"/>
              <a:ext cx="5105400" cy="5856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0A22E"/>
                </a:buClr>
                <a:buSzPct val="80000"/>
              </a:pPr>
              <a:endParaRPr lang="en-US" sz="3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8213035" y="2002259"/>
            <a:ext cx="3506679" cy="327202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17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9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3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11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25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20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31</a:t>
            </a:r>
          </a:p>
        </p:txBody>
      </p:sp>
    </p:spTree>
    <p:extLst>
      <p:ext uri="{BB962C8B-B14F-4D97-AF65-F5344CB8AC3E}">
        <p14:creationId xmlns:p14="http://schemas.microsoft.com/office/powerpoint/2010/main" val="350881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Solution: BT Traversals - Constructor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78075" y="1823471"/>
            <a:ext cx="10775273" cy="472761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lvl="0" defTabSz="1218438" fontAlgn="base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200" b="1" dirty="0">
                <a:latin typeface="Consolas" pitchFamily="49" charset="0"/>
              </a:rPr>
              <a:t>public class </a:t>
            </a:r>
            <a:r>
              <a:rPr lang="en-US" altLang="en-US" sz="2200" b="1" dirty="0" err="1">
                <a:solidFill>
                  <a:schemeClr val="bg1"/>
                </a:solidFill>
                <a:latin typeface="Consolas" pitchFamily="49" charset="0"/>
              </a:rPr>
              <a:t>BinaryTree</a:t>
            </a:r>
            <a:r>
              <a:rPr lang="en-US" altLang="en-US" sz="2200" b="1" dirty="0">
                <a:solidFill>
                  <a:schemeClr val="bg1"/>
                </a:solidFill>
                <a:latin typeface="Consolas" pitchFamily="49" charset="0"/>
              </a:rPr>
              <a:t>&lt;T&gt;</a:t>
            </a:r>
            <a:r>
              <a:rPr lang="en-US" altLang="en-US" sz="2200" b="1" dirty="0">
                <a:latin typeface="Consolas" pitchFamily="49" charset="0"/>
              </a:rPr>
              <a:t> : </a:t>
            </a:r>
            <a:r>
              <a:rPr lang="en-US" altLang="en-US" sz="2200" b="1" dirty="0" err="1">
                <a:solidFill>
                  <a:schemeClr val="bg1"/>
                </a:solidFill>
                <a:latin typeface="Consolas" pitchFamily="49" charset="0"/>
              </a:rPr>
              <a:t>IAbstractBinaryTree</a:t>
            </a:r>
            <a:r>
              <a:rPr lang="en-US" altLang="en-US" sz="2200" b="1" dirty="0">
                <a:solidFill>
                  <a:schemeClr val="bg1"/>
                </a:solidFill>
                <a:latin typeface="Consolas" pitchFamily="49" charset="0"/>
              </a:rPr>
              <a:t>&lt;T&gt;</a:t>
            </a:r>
            <a:r>
              <a:rPr lang="en-US" altLang="en-US" sz="2200" b="1" dirty="0">
                <a:latin typeface="Consolas" pitchFamily="49" charset="0"/>
              </a:rPr>
              <a:t> </a:t>
            </a:r>
          </a:p>
          <a:p>
            <a:pPr lvl="0" defTabSz="1218438" fontAlgn="base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200" b="1" dirty="0">
                <a:latin typeface="Consolas" pitchFamily="49" charset="0"/>
              </a:rPr>
              <a:t>{</a:t>
            </a:r>
            <a:br>
              <a:rPr lang="en-US" altLang="en-US" sz="2200" b="1" dirty="0">
                <a:latin typeface="Consolas" pitchFamily="49" charset="0"/>
              </a:rPr>
            </a:br>
            <a:r>
              <a:rPr lang="en-US" altLang="en-US" sz="2200" b="1" dirty="0">
                <a:latin typeface="Consolas" pitchFamily="49" charset="0"/>
              </a:rPr>
              <a:t> public </a:t>
            </a:r>
            <a:r>
              <a:rPr lang="en-US" altLang="en-US" sz="2200" b="1" dirty="0" err="1">
                <a:solidFill>
                  <a:schemeClr val="bg1"/>
                </a:solidFill>
                <a:latin typeface="Consolas" pitchFamily="49" charset="0"/>
              </a:rPr>
              <a:t>BinaryTree</a:t>
            </a:r>
            <a:r>
              <a:rPr lang="en-US" altLang="en-US" sz="2200" b="1" dirty="0">
                <a:latin typeface="Consolas" pitchFamily="49" charset="0"/>
              </a:rPr>
              <a:t>(T key, </a:t>
            </a:r>
            <a:r>
              <a:rPr lang="en-US" altLang="en-US" sz="2200" b="1" dirty="0" err="1">
                <a:latin typeface="Consolas" pitchFamily="49" charset="0"/>
              </a:rPr>
              <a:t>IAbstractBinaryTree</a:t>
            </a:r>
            <a:r>
              <a:rPr lang="en-US" altLang="en-US" sz="2200" b="1" dirty="0">
                <a:latin typeface="Consolas" pitchFamily="49" charset="0"/>
              </a:rPr>
              <a:t>&lt;T&gt;</a:t>
            </a:r>
            <a:r>
              <a:rPr lang="en-US" altLang="en-US" sz="2200" b="1" dirty="0">
                <a:solidFill>
                  <a:schemeClr val="bg1"/>
                </a:solidFill>
                <a:latin typeface="Consolas" pitchFamily="49" charset="0"/>
              </a:rPr>
              <a:t> </a:t>
            </a:r>
            <a:r>
              <a:rPr lang="en-US" altLang="en-US" sz="2200" b="1" dirty="0" err="1">
                <a:latin typeface="Consolas" pitchFamily="49" charset="0"/>
              </a:rPr>
              <a:t>leftChild</a:t>
            </a:r>
            <a:r>
              <a:rPr lang="en-US" altLang="en-US" sz="2200" b="1" dirty="0">
                <a:latin typeface="Consolas" pitchFamily="49" charset="0"/>
              </a:rPr>
              <a:t>,       	</a:t>
            </a:r>
            <a:r>
              <a:rPr lang="en-US" altLang="en-US" sz="2200" b="1" dirty="0" err="1">
                <a:latin typeface="Consolas" pitchFamily="49" charset="0"/>
              </a:rPr>
              <a:t>IAbstractBinaryTree</a:t>
            </a:r>
            <a:r>
              <a:rPr lang="en-US" altLang="en-US" sz="2200" b="1" dirty="0">
                <a:latin typeface="Consolas" pitchFamily="49" charset="0"/>
              </a:rPr>
              <a:t>&lt;T&gt; </a:t>
            </a:r>
            <a:r>
              <a:rPr lang="en-US" altLang="en-US" sz="2200" b="1" dirty="0" err="1">
                <a:latin typeface="Consolas" pitchFamily="49" charset="0"/>
              </a:rPr>
              <a:t>rightChild</a:t>
            </a:r>
            <a:r>
              <a:rPr lang="en-US" altLang="en-US" sz="2200" b="1" dirty="0">
                <a:latin typeface="Consolas" pitchFamily="49" charset="0"/>
              </a:rPr>
              <a:t>) {</a:t>
            </a:r>
            <a:br>
              <a:rPr lang="en-US" altLang="en-US" sz="2200" b="1" dirty="0">
                <a:latin typeface="Consolas" pitchFamily="49" charset="0"/>
              </a:rPr>
            </a:br>
            <a:r>
              <a:rPr lang="en-US" altLang="en-US" sz="2200" b="1" dirty="0">
                <a:latin typeface="Consolas" pitchFamily="49" charset="0"/>
              </a:rPr>
              <a:t>    </a:t>
            </a:r>
            <a:r>
              <a:rPr lang="en-US" altLang="en-US" sz="2200" b="1" dirty="0" err="1">
                <a:latin typeface="Consolas" pitchFamily="49" charset="0"/>
              </a:rPr>
              <a:t>this.Key</a:t>
            </a:r>
            <a:r>
              <a:rPr lang="en-US" altLang="en-US" sz="2200" b="1" dirty="0">
                <a:latin typeface="Consolas" pitchFamily="49" charset="0"/>
              </a:rPr>
              <a:t> = key;</a:t>
            </a:r>
            <a:br>
              <a:rPr lang="en-US" altLang="en-US" sz="2200" b="1" dirty="0">
                <a:latin typeface="Consolas" pitchFamily="49" charset="0"/>
              </a:rPr>
            </a:br>
            <a:r>
              <a:rPr lang="en-US" altLang="en-US" sz="2200" b="1" dirty="0">
                <a:latin typeface="Consolas" pitchFamily="49" charset="0"/>
              </a:rPr>
              <a:t>    </a:t>
            </a:r>
            <a:r>
              <a:rPr lang="en-US" altLang="en-US" sz="2200" b="1" dirty="0" err="1">
                <a:latin typeface="Consolas" pitchFamily="49" charset="0"/>
              </a:rPr>
              <a:t>this.LeftChild</a:t>
            </a:r>
            <a:r>
              <a:rPr lang="en-US" altLang="en-US" sz="2200" b="1" dirty="0">
                <a:latin typeface="Consolas" pitchFamily="49" charset="0"/>
              </a:rPr>
              <a:t> = </a:t>
            </a:r>
            <a:r>
              <a:rPr lang="en-US" altLang="en-US" sz="2200" b="1" dirty="0" err="1">
                <a:latin typeface="Consolas" pitchFamily="49" charset="0"/>
              </a:rPr>
              <a:t>leftChild</a:t>
            </a:r>
            <a:r>
              <a:rPr lang="en-US" altLang="en-US" sz="2200" b="1" dirty="0">
                <a:latin typeface="Consolas" pitchFamily="49" charset="0"/>
              </a:rPr>
              <a:t>;</a:t>
            </a:r>
            <a:br>
              <a:rPr lang="en-US" altLang="en-US" sz="2200" b="1" dirty="0">
                <a:latin typeface="Consolas" pitchFamily="49" charset="0"/>
              </a:rPr>
            </a:br>
            <a:r>
              <a:rPr lang="en-US" altLang="en-US" sz="2200" b="1" dirty="0">
                <a:latin typeface="Consolas" pitchFamily="49" charset="0"/>
              </a:rPr>
              <a:t>    </a:t>
            </a:r>
            <a:r>
              <a:rPr lang="en-US" altLang="en-US" sz="2200" b="1" dirty="0" err="1">
                <a:latin typeface="Consolas" pitchFamily="49" charset="0"/>
              </a:rPr>
              <a:t>this.RightChild</a:t>
            </a:r>
            <a:r>
              <a:rPr lang="en-US" altLang="en-US" sz="2200" b="1" dirty="0">
                <a:latin typeface="Consolas" pitchFamily="49" charset="0"/>
              </a:rPr>
              <a:t> = </a:t>
            </a:r>
            <a:r>
              <a:rPr lang="en-US" altLang="en-US" sz="2200" b="1" dirty="0" err="1">
                <a:latin typeface="Consolas" pitchFamily="49" charset="0"/>
              </a:rPr>
              <a:t>rightChild</a:t>
            </a:r>
            <a:r>
              <a:rPr lang="en-US" altLang="en-US" sz="2200" b="1" dirty="0">
                <a:latin typeface="Consolas" pitchFamily="49" charset="0"/>
              </a:rPr>
              <a:t>;</a:t>
            </a:r>
            <a:br>
              <a:rPr lang="en-US" altLang="en-US" sz="2200" b="1" dirty="0">
                <a:latin typeface="Consolas" pitchFamily="49" charset="0"/>
              </a:rPr>
            </a:br>
            <a:r>
              <a:rPr lang="en-US" altLang="en-US" sz="2200" b="1" dirty="0">
                <a:latin typeface="Consolas" pitchFamily="49" charset="0"/>
              </a:rPr>
              <a:t>}</a:t>
            </a:r>
          </a:p>
          <a:p>
            <a:pPr lvl="0" defTabSz="1218438" fontAlgn="base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200" b="1" dirty="0">
                <a:latin typeface="Consolas" pitchFamily="49" charset="0"/>
              </a:rPr>
              <a:t>public T </a:t>
            </a:r>
            <a:r>
              <a:rPr lang="en-US" altLang="en-US" sz="2200" b="1" dirty="0">
                <a:solidFill>
                  <a:schemeClr val="bg1"/>
                </a:solidFill>
                <a:latin typeface="Consolas" pitchFamily="49" charset="0"/>
              </a:rPr>
              <a:t>Value</a:t>
            </a:r>
            <a:r>
              <a:rPr lang="en-US" altLang="en-US" sz="2200" b="1" dirty="0">
                <a:latin typeface="Consolas" pitchFamily="49" charset="0"/>
              </a:rPr>
              <a:t> { get; private set; }</a:t>
            </a:r>
          </a:p>
          <a:p>
            <a:pPr lvl="0" defTabSz="1218438" fontAlgn="base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200" b="1" dirty="0">
                <a:latin typeface="Consolas" pitchFamily="49" charset="0"/>
              </a:rPr>
              <a:t>public </a:t>
            </a:r>
            <a:r>
              <a:rPr lang="en-US" altLang="en-US" sz="2200" b="1" dirty="0" err="1">
                <a:latin typeface="Consolas" pitchFamily="49" charset="0"/>
              </a:rPr>
              <a:t>IAbstractBinaryTree</a:t>
            </a:r>
            <a:r>
              <a:rPr lang="en-US" altLang="en-US" sz="2200" b="1" dirty="0">
                <a:latin typeface="Consolas" pitchFamily="49" charset="0"/>
              </a:rPr>
              <a:t>&lt;T&gt; </a:t>
            </a:r>
            <a:r>
              <a:rPr lang="en-US" altLang="en-US" sz="2200" b="1" dirty="0" err="1">
                <a:solidFill>
                  <a:schemeClr val="bg1"/>
                </a:solidFill>
                <a:latin typeface="Consolas" pitchFamily="49" charset="0"/>
              </a:rPr>
              <a:t>LeftChild</a:t>
            </a:r>
            <a:r>
              <a:rPr lang="en-US" altLang="en-US" sz="2200" b="1" dirty="0">
                <a:latin typeface="Consolas" pitchFamily="49" charset="0"/>
              </a:rPr>
              <a:t> { get; private set; }</a:t>
            </a:r>
          </a:p>
          <a:p>
            <a:pPr defTabSz="1218438" fontAlgn="base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200" b="1" dirty="0">
                <a:latin typeface="Consolas" pitchFamily="49" charset="0"/>
              </a:rPr>
              <a:t>public </a:t>
            </a:r>
            <a:r>
              <a:rPr lang="en-US" altLang="en-US" sz="2200" b="1" dirty="0" err="1">
                <a:latin typeface="Consolas" pitchFamily="49" charset="0"/>
              </a:rPr>
              <a:t>IAbstractBinaryTree</a:t>
            </a:r>
            <a:r>
              <a:rPr lang="en-US" altLang="en-US" sz="2200" b="1" dirty="0">
                <a:latin typeface="Consolas" pitchFamily="49" charset="0"/>
              </a:rPr>
              <a:t>&lt;T&gt; </a:t>
            </a:r>
            <a:r>
              <a:rPr lang="en-US" altLang="en-US" sz="2200" b="1" dirty="0" err="1">
                <a:solidFill>
                  <a:schemeClr val="bg1"/>
                </a:solidFill>
                <a:latin typeface="Consolas" pitchFamily="49" charset="0"/>
              </a:rPr>
              <a:t>RightChild</a:t>
            </a:r>
            <a:r>
              <a:rPr lang="en-US" altLang="en-US" sz="2200" b="1" dirty="0">
                <a:latin typeface="Consolas" pitchFamily="49" charset="0"/>
              </a:rPr>
              <a:t> { get; private set; }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685941"/>
          </a:xfrm>
        </p:spPr>
        <p:txBody>
          <a:bodyPr/>
          <a:lstStyle/>
          <a:p>
            <a:r>
              <a:rPr lang="en-GB" dirty="0"/>
              <a:t>Fields and constructor:</a:t>
            </a:r>
          </a:p>
        </p:txBody>
      </p:sp>
    </p:spTree>
    <p:extLst>
      <p:ext uri="{BB962C8B-B14F-4D97-AF65-F5344CB8AC3E}">
        <p14:creationId xmlns:p14="http://schemas.microsoft.com/office/powerpoint/2010/main" val="319940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Solution: BT Traversals - Print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5514" y="1178827"/>
            <a:ext cx="11428521" cy="56603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private void PreOrderDfs(IAbstractBinaryTree&lt;T&gt; 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tree</a:t>
            </a:r>
            <a:r>
              <a:rPr lang="en-GB" sz="2600" b="1" noProof="1">
                <a:latin typeface="Consolas" pitchFamily="49" charset="0"/>
              </a:rPr>
              <a:t>,  StringBuilder 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result</a:t>
            </a:r>
            <a:r>
              <a:rPr lang="en-GB" sz="2600" b="1" noProof="1">
                <a:latin typeface="Consolas" pitchFamily="49" charset="0"/>
              </a:rPr>
              <a:t>, int 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indent</a:t>
            </a:r>
            <a:r>
              <a:rPr lang="en-GB" sz="2600" b="1" noProof="1">
                <a:latin typeface="Consolas" pitchFamily="49" charset="0"/>
              </a:rPr>
              <a:t>) {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  result.Append(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new string</a:t>
            </a:r>
            <a:r>
              <a:rPr lang="en-GB" sz="2600" b="1" noProof="1">
                <a:latin typeface="Consolas" pitchFamily="49" charset="0"/>
              </a:rPr>
              <a:t>(' ', indent)).Append(tree.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Value</a:t>
            </a:r>
            <a:r>
              <a:rPr lang="en-GB" sz="2600" b="1" noProof="1">
                <a:latin typeface="Consolas" pitchFamily="49" charset="0"/>
              </a:rPr>
              <a:t>)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        .Append(Environment.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NewLine</a:t>
            </a:r>
            <a:r>
              <a:rPr lang="en-GB" sz="2600" b="1" noProof="1">
                <a:latin typeface="Consolas" pitchFamily="49" charset="0"/>
              </a:rPr>
              <a:t>);</a:t>
            </a:r>
          </a:p>
          <a:p>
            <a:pPr defTabSz="1218438">
              <a:lnSpc>
                <a:spcPct val="105000"/>
              </a:lnSpc>
            </a:pPr>
            <a:endParaRPr lang="en-GB" sz="2600" b="1" noProof="1">
              <a:latin typeface="Consolas" pitchFamily="49" charset="0"/>
            </a:endParaRP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  if (tree.LeftChild != null){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    this.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PreOrderDfs</a:t>
            </a:r>
            <a:r>
              <a:rPr lang="en-GB" sz="2600" b="1" noProof="1">
                <a:latin typeface="Consolas" pitchFamily="49" charset="0"/>
              </a:rPr>
              <a:t>(tree.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LeftChild</a:t>
            </a:r>
            <a:r>
              <a:rPr lang="en-GB" sz="2600" b="1" noProof="1">
                <a:latin typeface="Consolas" pitchFamily="49" charset="0"/>
              </a:rPr>
              <a:t>, result, indent 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+ 2</a:t>
            </a:r>
            <a:r>
              <a:rPr lang="en-GB" sz="2600" b="1" noProof="1">
                <a:latin typeface="Consolas" pitchFamily="49" charset="0"/>
              </a:rPr>
              <a:t>);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  }</a:t>
            </a:r>
          </a:p>
          <a:p>
            <a:pPr defTabSz="1218438">
              <a:lnSpc>
                <a:spcPct val="105000"/>
              </a:lnSpc>
            </a:pPr>
            <a:endParaRPr lang="en-GB" sz="2600" b="1" noProof="1">
              <a:latin typeface="Consolas" pitchFamily="49" charset="0"/>
            </a:endParaRP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  if (tree.RightChild != null){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    this.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PreOrderDfs</a:t>
            </a:r>
            <a:r>
              <a:rPr lang="en-GB" sz="2600" b="1" noProof="1">
                <a:latin typeface="Consolas" pitchFamily="49" charset="0"/>
              </a:rPr>
              <a:t>(tree.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RightChild</a:t>
            </a:r>
            <a:r>
              <a:rPr lang="en-GB" sz="2600" b="1" noProof="1">
                <a:latin typeface="Consolas" pitchFamily="49" charset="0"/>
              </a:rPr>
              <a:t>, result, indent 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+ 2</a:t>
            </a:r>
            <a:r>
              <a:rPr lang="en-GB" sz="2600" b="1" noProof="1">
                <a:latin typeface="Consolas" pitchFamily="49" charset="0"/>
              </a:rPr>
              <a:t>);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  }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}</a:t>
            </a:r>
            <a:endParaRPr lang="en-US" altLang="en-US" sz="2600" b="1" dirty="0">
              <a:latin typeface="Consolas" pitchFamily="49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8622068" y="2664374"/>
            <a:ext cx="2148768" cy="544830"/>
          </a:xfrm>
          <a:prstGeom prst="wedgeRoundRectCallout">
            <a:avLst>
              <a:gd name="adj1" fmla="val -92095"/>
              <a:gd name="adj2" fmla="val -6296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Node</a:t>
            </a:r>
            <a:endParaRPr lang="bg-BG" sz="2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4749504" y="4313458"/>
            <a:ext cx="2286000" cy="544830"/>
          </a:xfrm>
          <a:prstGeom prst="wedgeRoundRectCallout">
            <a:avLst>
              <a:gd name="adj1" fmla="val -76051"/>
              <a:gd name="adj2" fmla="val -6459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Traverse Left</a:t>
            </a:r>
            <a:endParaRPr lang="bg-BG" sz="2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4637473" y="6006788"/>
            <a:ext cx="2286000" cy="544830"/>
          </a:xfrm>
          <a:prstGeom prst="wedgeRoundRectCallout">
            <a:avLst>
              <a:gd name="adj1" fmla="val -74886"/>
              <a:gd name="adj2" fmla="val -7436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Traverse Right</a:t>
            </a:r>
            <a:endParaRPr lang="bg-BG" sz="2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6926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Root </a:t>
            </a:r>
            <a:r>
              <a:rPr lang="en-GB" dirty="0">
                <a:sym typeface="Wingdings" panose="05000000000000000000" pitchFamily="2" charset="2"/>
              </a:rPr>
              <a:t> Left  Right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Trees Traversal: Pre-order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6324600" y="2133600"/>
            <a:ext cx="5105400" cy="3657398"/>
            <a:chOff x="6170612" y="2286000"/>
            <a:chExt cx="5105400" cy="3657398"/>
          </a:xfrm>
        </p:grpSpPr>
        <p:grpSp>
          <p:nvGrpSpPr>
            <p:cNvPr id="4" name="Group 3"/>
            <p:cNvGrpSpPr/>
            <p:nvPr/>
          </p:nvGrpSpPr>
          <p:grpSpPr>
            <a:xfrm>
              <a:off x="6896986" y="2286000"/>
              <a:ext cx="3602436" cy="2805768"/>
              <a:chOff x="4623619" y="2007160"/>
              <a:chExt cx="2931132" cy="2423139"/>
            </a:xfrm>
          </p:grpSpPr>
          <p:sp>
            <p:nvSpPr>
              <p:cNvPr id="5" name="Oval 5"/>
              <p:cNvSpPr>
                <a:spLocks noChangeArrowheads="1"/>
              </p:cNvSpPr>
              <p:nvPr/>
            </p:nvSpPr>
            <p:spPr bwMode="auto">
              <a:xfrm>
                <a:off x="5778290" y="2007160"/>
                <a:ext cx="576246" cy="565769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17</a:t>
                </a:r>
              </a:p>
            </p:txBody>
          </p:sp>
          <p:sp>
            <p:nvSpPr>
              <p:cNvPr id="6" name="Oval 6"/>
              <p:cNvSpPr>
                <a:spLocks noChangeArrowheads="1"/>
              </p:cNvSpPr>
              <p:nvPr/>
            </p:nvSpPr>
            <p:spPr bwMode="auto">
              <a:xfrm>
                <a:off x="6577489" y="2887373"/>
                <a:ext cx="576246" cy="565769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25</a:t>
                </a:r>
              </a:p>
            </p:txBody>
          </p:sp>
          <p:sp>
            <p:nvSpPr>
              <p:cNvPr id="7" name="Oval 7"/>
              <p:cNvSpPr>
                <a:spLocks noChangeArrowheads="1"/>
              </p:cNvSpPr>
              <p:nvPr/>
            </p:nvSpPr>
            <p:spPr bwMode="auto">
              <a:xfrm>
                <a:off x="5018202" y="2881786"/>
                <a:ext cx="575120" cy="565769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9</a:t>
                </a:r>
              </a:p>
            </p:txBody>
          </p:sp>
          <p:sp>
            <p:nvSpPr>
              <p:cNvPr id="8" name="Oval 8"/>
              <p:cNvSpPr>
                <a:spLocks noChangeArrowheads="1"/>
              </p:cNvSpPr>
              <p:nvPr/>
            </p:nvSpPr>
            <p:spPr bwMode="auto">
              <a:xfrm>
                <a:off x="6183940" y="3864530"/>
                <a:ext cx="576246" cy="565769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20</a:t>
                </a:r>
              </a:p>
            </p:txBody>
          </p:sp>
          <p:sp>
            <p:nvSpPr>
              <p:cNvPr id="9" name="Oval 9"/>
              <p:cNvSpPr>
                <a:spLocks noChangeArrowheads="1"/>
              </p:cNvSpPr>
              <p:nvPr/>
            </p:nvSpPr>
            <p:spPr bwMode="auto">
              <a:xfrm>
                <a:off x="6976253" y="3848886"/>
                <a:ext cx="578498" cy="565769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31</a:t>
                </a:r>
              </a:p>
            </p:txBody>
          </p:sp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 flipH="1">
                <a:off x="5508741" y="2488255"/>
                <a:ext cx="372000" cy="4725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 flipH="1">
                <a:off x="6499042" y="3420189"/>
                <a:ext cx="261142" cy="44434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2" name="Line 12"/>
              <p:cNvSpPr>
                <a:spLocks noChangeShapeType="1"/>
              </p:cNvSpPr>
              <p:nvPr/>
            </p:nvSpPr>
            <p:spPr bwMode="auto">
              <a:xfrm>
                <a:off x="6992759" y="3420189"/>
                <a:ext cx="206532" cy="44434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>
                <a:off x="6290070" y="2488255"/>
                <a:ext cx="408393" cy="4725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6" name="Oval 6"/>
              <p:cNvSpPr>
                <a:spLocks noChangeArrowheads="1"/>
              </p:cNvSpPr>
              <p:nvPr/>
            </p:nvSpPr>
            <p:spPr bwMode="auto">
              <a:xfrm>
                <a:off x="5406949" y="3841086"/>
                <a:ext cx="576246" cy="565769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11</a:t>
                </a:r>
              </a:p>
            </p:txBody>
          </p:sp>
          <p:sp>
            <p:nvSpPr>
              <p:cNvPr id="17" name="Oval 7"/>
              <p:cNvSpPr>
                <a:spLocks noChangeArrowheads="1"/>
              </p:cNvSpPr>
              <p:nvPr/>
            </p:nvSpPr>
            <p:spPr bwMode="auto">
              <a:xfrm>
                <a:off x="4623619" y="3841086"/>
                <a:ext cx="575120" cy="565769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18" name="Line 10"/>
              <p:cNvSpPr>
                <a:spLocks noChangeShapeType="1"/>
              </p:cNvSpPr>
              <p:nvPr/>
            </p:nvSpPr>
            <p:spPr bwMode="auto">
              <a:xfrm flipH="1">
                <a:off x="4919537" y="3420189"/>
                <a:ext cx="234315" cy="44434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9" name="Line 13"/>
              <p:cNvSpPr>
                <a:spLocks noChangeShapeType="1"/>
              </p:cNvSpPr>
              <p:nvPr/>
            </p:nvSpPr>
            <p:spPr bwMode="auto">
              <a:xfrm>
                <a:off x="5431313" y="3420189"/>
                <a:ext cx="216258" cy="43762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24" name="Rectangle 23"/>
            <p:cNvSpPr/>
            <p:nvPr/>
          </p:nvSpPr>
          <p:spPr>
            <a:xfrm>
              <a:off x="6170612" y="5334000"/>
              <a:ext cx="5105400" cy="609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0A22E"/>
                </a:buClr>
                <a:buSzPct val="80000"/>
              </a:pPr>
              <a:r>
                <a:rPr lang="en-US" sz="3200" b="1" dirty="0">
                  <a:latin typeface="Consolas" panose="020B0609020204030204" pitchFamily="49" charset="0"/>
                  <a:cs typeface="Consolas" panose="020B0609020204030204" pitchFamily="49" charset="0"/>
                  <a:sym typeface="Wingdings" panose="05000000000000000000" pitchFamily="2" charset="2"/>
                </a:rPr>
                <a:t> </a:t>
              </a:r>
              <a:r>
                <a:rPr lang="en-US" sz="3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17 9 3 11 25 20 31</a:t>
              </a:r>
            </a:p>
          </p:txBody>
        </p:sp>
      </p:grp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43696" y="2518976"/>
            <a:ext cx="5374931" cy="327202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preOrder</a:t>
            </a:r>
            <a:r>
              <a:rPr lang="en-US" sz="2700" b="1" noProof="1">
                <a:latin typeface="Consolas" pitchFamily="49" charset="0"/>
              </a:rPr>
              <a:t> (node) {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if (node != null) {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print node.key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preOrder</a:t>
            </a:r>
            <a:r>
              <a:rPr lang="en-US" sz="2700" b="1" noProof="1">
                <a:latin typeface="Consolas" pitchFamily="49" charset="0"/>
              </a:rPr>
              <a:t>(node.left)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preOrder</a:t>
            </a:r>
            <a:r>
              <a:rPr lang="en-US" sz="2700" b="1" noProof="1">
                <a:latin typeface="Consolas" pitchFamily="49" charset="0"/>
              </a:rPr>
              <a:t>(node.right)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}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76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Left </a:t>
            </a:r>
            <a:r>
              <a:rPr lang="en-GB" dirty="0">
                <a:sym typeface="Wingdings" panose="05000000000000000000" pitchFamily="2" charset="2"/>
              </a:rPr>
              <a:t> Root  Right</a:t>
            </a:r>
            <a:endParaRPr lang="en-GB" dirty="0"/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Trees Traversal: In-order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6324600" y="2133600"/>
            <a:ext cx="5105400" cy="3657398"/>
            <a:chOff x="6170612" y="2286000"/>
            <a:chExt cx="5105400" cy="3657398"/>
          </a:xfrm>
        </p:grpSpPr>
        <p:grpSp>
          <p:nvGrpSpPr>
            <p:cNvPr id="4" name="Group 3"/>
            <p:cNvGrpSpPr/>
            <p:nvPr/>
          </p:nvGrpSpPr>
          <p:grpSpPr>
            <a:xfrm>
              <a:off x="6896986" y="2286000"/>
              <a:ext cx="3602436" cy="2805768"/>
              <a:chOff x="4623619" y="2007160"/>
              <a:chExt cx="2931132" cy="2423139"/>
            </a:xfrm>
          </p:grpSpPr>
          <p:sp>
            <p:nvSpPr>
              <p:cNvPr id="5" name="Oval 5"/>
              <p:cNvSpPr>
                <a:spLocks noChangeArrowheads="1"/>
              </p:cNvSpPr>
              <p:nvPr/>
            </p:nvSpPr>
            <p:spPr bwMode="auto">
              <a:xfrm>
                <a:off x="5778290" y="2007160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17</a:t>
                </a:r>
              </a:p>
            </p:txBody>
          </p:sp>
          <p:sp>
            <p:nvSpPr>
              <p:cNvPr id="6" name="Oval 6"/>
              <p:cNvSpPr>
                <a:spLocks noChangeArrowheads="1"/>
              </p:cNvSpPr>
              <p:nvPr/>
            </p:nvSpPr>
            <p:spPr bwMode="auto">
              <a:xfrm>
                <a:off x="6577489" y="2887373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25</a:t>
                </a:r>
              </a:p>
            </p:txBody>
          </p:sp>
          <p:sp>
            <p:nvSpPr>
              <p:cNvPr id="7" name="Oval 7"/>
              <p:cNvSpPr>
                <a:spLocks noChangeArrowheads="1"/>
              </p:cNvSpPr>
              <p:nvPr/>
            </p:nvSpPr>
            <p:spPr bwMode="auto">
              <a:xfrm>
                <a:off x="5018202" y="2881786"/>
                <a:ext cx="575120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9</a:t>
                </a:r>
              </a:p>
            </p:txBody>
          </p:sp>
          <p:sp>
            <p:nvSpPr>
              <p:cNvPr id="8" name="Oval 8"/>
              <p:cNvSpPr>
                <a:spLocks noChangeArrowheads="1"/>
              </p:cNvSpPr>
              <p:nvPr/>
            </p:nvSpPr>
            <p:spPr bwMode="auto">
              <a:xfrm>
                <a:off x="6183940" y="3864530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20</a:t>
                </a:r>
              </a:p>
            </p:txBody>
          </p:sp>
          <p:sp>
            <p:nvSpPr>
              <p:cNvPr id="9" name="Oval 9"/>
              <p:cNvSpPr>
                <a:spLocks noChangeArrowheads="1"/>
              </p:cNvSpPr>
              <p:nvPr/>
            </p:nvSpPr>
            <p:spPr bwMode="auto">
              <a:xfrm>
                <a:off x="6976253" y="3848886"/>
                <a:ext cx="578498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31</a:t>
                </a:r>
              </a:p>
            </p:txBody>
          </p:sp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 flipH="1">
                <a:off x="5508741" y="2488255"/>
                <a:ext cx="372000" cy="4725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 flipH="1">
                <a:off x="6499042" y="3420189"/>
                <a:ext cx="261142" cy="44434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2" name="Line 12"/>
              <p:cNvSpPr>
                <a:spLocks noChangeShapeType="1"/>
              </p:cNvSpPr>
              <p:nvPr/>
            </p:nvSpPr>
            <p:spPr bwMode="auto">
              <a:xfrm>
                <a:off x="6992759" y="3420189"/>
                <a:ext cx="206532" cy="44434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>
                <a:off x="6290070" y="2488255"/>
                <a:ext cx="408393" cy="4725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6" name="Oval 6"/>
              <p:cNvSpPr>
                <a:spLocks noChangeArrowheads="1"/>
              </p:cNvSpPr>
              <p:nvPr/>
            </p:nvSpPr>
            <p:spPr bwMode="auto">
              <a:xfrm>
                <a:off x="5406949" y="3841086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11</a:t>
                </a:r>
              </a:p>
            </p:txBody>
          </p:sp>
          <p:sp>
            <p:nvSpPr>
              <p:cNvPr id="17" name="Oval 7"/>
              <p:cNvSpPr>
                <a:spLocks noChangeArrowheads="1"/>
              </p:cNvSpPr>
              <p:nvPr/>
            </p:nvSpPr>
            <p:spPr bwMode="auto">
              <a:xfrm>
                <a:off x="4623619" y="3841086"/>
                <a:ext cx="575120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18" name="Line 10"/>
              <p:cNvSpPr>
                <a:spLocks noChangeShapeType="1"/>
              </p:cNvSpPr>
              <p:nvPr/>
            </p:nvSpPr>
            <p:spPr bwMode="auto">
              <a:xfrm flipH="1">
                <a:off x="4919537" y="3420189"/>
                <a:ext cx="234315" cy="44434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9" name="Line 13"/>
              <p:cNvSpPr>
                <a:spLocks noChangeShapeType="1"/>
              </p:cNvSpPr>
              <p:nvPr/>
            </p:nvSpPr>
            <p:spPr bwMode="auto">
              <a:xfrm>
                <a:off x="5431313" y="3420189"/>
                <a:ext cx="216258" cy="43762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24" name="Rectangle 23"/>
            <p:cNvSpPr/>
            <p:nvPr/>
          </p:nvSpPr>
          <p:spPr>
            <a:xfrm>
              <a:off x="6170612" y="5334000"/>
              <a:ext cx="5105400" cy="609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0A22E"/>
                </a:buClr>
                <a:buSzPct val="80000"/>
              </a:pPr>
              <a:r>
                <a:rPr lang="en-US" sz="3200" b="1" dirty="0">
                  <a:latin typeface="Consolas" panose="020B0609020204030204" pitchFamily="49" charset="0"/>
                  <a:cs typeface="Consolas" panose="020B0609020204030204" pitchFamily="49" charset="0"/>
                  <a:sym typeface="Wingdings" panose="05000000000000000000" pitchFamily="2" charset="2"/>
                </a:rPr>
                <a:t> </a:t>
              </a:r>
              <a:r>
                <a:rPr lang="en-US" sz="3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3 9 11 17 20 25 31</a:t>
              </a:r>
            </a:p>
          </p:txBody>
        </p:sp>
      </p:grp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729629" y="2518976"/>
            <a:ext cx="5374931" cy="327202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inOrder </a:t>
            </a:r>
            <a:r>
              <a:rPr lang="en-US" sz="2700" b="1" noProof="1">
                <a:latin typeface="Consolas" pitchFamily="49" charset="0"/>
              </a:rPr>
              <a:t>(node) {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if (node != null) {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inOrder</a:t>
            </a:r>
            <a:r>
              <a:rPr lang="en-US" sz="2700" b="1" noProof="1">
                <a:latin typeface="Consolas" pitchFamily="49" charset="0"/>
              </a:rPr>
              <a:t>(node.left)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print node.key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inOrder</a:t>
            </a:r>
            <a:r>
              <a:rPr lang="en-US" sz="2700" b="1" noProof="1">
                <a:latin typeface="Consolas" pitchFamily="49" charset="0"/>
              </a:rPr>
              <a:t>(node.right)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}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446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Left </a:t>
            </a:r>
            <a:r>
              <a:rPr lang="en-GB" dirty="0">
                <a:sym typeface="Wingdings" panose="05000000000000000000" pitchFamily="2" charset="2"/>
              </a:rPr>
              <a:t> Right  Root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Trees Traversal: Post-order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6324600" y="2133802"/>
            <a:ext cx="5105400" cy="3657398"/>
            <a:chOff x="6170612" y="2286000"/>
            <a:chExt cx="5105400" cy="3657398"/>
          </a:xfrm>
        </p:grpSpPr>
        <p:grpSp>
          <p:nvGrpSpPr>
            <p:cNvPr id="4" name="Group 3"/>
            <p:cNvGrpSpPr/>
            <p:nvPr/>
          </p:nvGrpSpPr>
          <p:grpSpPr>
            <a:xfrm>
              <a:off x="6896986" y="2286000"/>
              <a:ext cx="3602436" cy="2805768"/>
              <a:chOff x="4623619" y="2007160"/>
              <a:chExt cx="2931132" cy="2423139"/>
            </a:xfrm>
          </p:grpSpPr>
          <p:sp>
            <p:nvSpPr>
              <p:cNvPr id="5" name="Oval 5"/>
              <p:cNvSpPr>
                <a:spLocks noChangeArrowheads="1"/>
              </p:cNvSpPr>
              <p:nvPr/>
            </p:nvSpPr>
            <p:spPr bwMode="auto">
              <a:xfrm>
                <a:off x="5778290" y="2007160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17</a:t>
                </a:r>
              </a:p>
            </p:txBody>
          </p:sp>
          <p:sp>
            <p:nvSpPr>
              <p:cNvPr id="6" name="Oval 6"/>
              <p:cNvSpPr>
                <a:spLocks noChangeArrowheads="1"/>
              </p:cNvSpPr>
              <p:nvPr/>
            </p:nvSpPr>
            <p:spPr bwMode="auto">
              <a:xfrm>
                <a:off x="6577489" y="2887373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25</a:t>
                </a:r>
              </a:p>
            </p:txBody>
          </p:sp>
          <p:sp>
            <p:nvSpPr>
              <p:cNvPr id="7" name="Oval 7"/>
              <p:cNvSpPr>
                <a:spLocks noChangeArrowheads="1"/>
              </p:cNvSpPr>
              <p:nvPr/>
            </p:nvSpPr>
            <p:spPr bwMode="auto">
              <a:xfrm>
                <a:off x="5018202" y="2881786"/>
                <a:ext cx="575120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9</a:t>
                </a:r>
              </a:p>
            </p:txBody>
          </p:sp>
          <p:sp>
            <p:nvSpPr>
              <p:cNvPr id="8" name="Oval 8"/>
              <p:cNvSpPr>
                <a:spLocks noChangeArrowheads="1"/>
              </p:cNvSpPr>
              <p:nvPr/>
            </p:nvSpPr>
            <p:spPr bwMode="auto">
              <a:xfrm>
                <a:off x="6183940" y="3864530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20</a:t>
                </a:r>
              </a:p>
            </p:txBody>
          </p:sp>
          <p:sp>
            <p:nvSpPr>
              <p:cNvPr id="9" name="Oval 9"/>
              <p:cNvSpPr>
                <a:spLocks noChangeArrowheads="1"/>
              </p:cNvSpPr>
              <p:nvPr/>
            </p:nvSpPr>
            <p:spPr bwMode="auto">
              <a:xfrm>
                <a:off x="6976253" y="3848886"/>
                <a:ext cx="578498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31</a:t>
                </a:r>
              </a:p>
            </p:txBody>
          </p:sp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 flipH="1">
                <a:off x="5508741" y="2488255"/>
                <a:ext cx="372000" cy="472511"/>
              </a:xfrm>
              <a:prstGeom prst="lin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 flipH="1">
                <a:off x="6499042" y="3420189"/>
                <a:ext cx="261142" cy="444341"/>
              </a:xfrm>
              <a:prstGeom prst="lin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2" name="Line 12"/>
              <p:cNvSpPr>
                <a:spLocks noChangeShapeType="1"/>
              </p:cNvSpPr>
              <p:nvPr/>
            </p:nvSpPr>
            <p:spPr bwMode="auto">
              <a:xfrm>
                <a:off x="6992759" y="3420189"/>
                <a:ext cx="206532" cy="444341"/>
              </a:xfrm>
              <a:prstGeom prst="lin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>
                <a:off x="6290070" y="2488255"/>
                <a:ext cx="408393" cy="472511"/>
              </a:xfrm>
              <a:prstGeom prst="lin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6" name="Oval 6"/>
              <p:cNvSpPr>
                <a:spLocks noChangeArrowheads="1"/>
              </p:cNvSpPr>
              <p:nvPr/>
            </p:nvSpPr>
            <p:spPr bwMode="auto">
              <a:xfrm>
                <a:off x="5406949" y="3841086"/>
                <a:ext cx="576246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11</a:t>
                </a:r>
              </a:p>
            </p:txBody>
          </p:sp>
          <p:sp>
            <p:nvSpPr>
              <p:cNvPr id="17" name="Oval 7"/>
              <p:cNvSpPr>
                <a:spLocks noChangeArrowheads="1"/>
              </p:cNvSpPr>
              <p:nvPr/>
            </p:nvSpPr>
            <p:spPr bwMode="auto">
              <a:xfrm>
                <a:off x="4623619" y="3841086"/>
                <a:ext cx="575120" cy="565769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18" name="Line 10"/>
              <p:cNvSpPr>
                <a:spLocks noChangeShapeType="1"/>
              </p:cNvSpPr>
              <p:nvPr/>
            </p:nvSpPr>
            <p:spPr bwMode="auto">
              <a:xfrm flipH="1">
                <a:off x="4919537" y="3420189"/>
                <a:ext cx="234315" cy="444342"/>
              </a:xfrm>
              <a:prstGeom prst="lin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9" name="Line 13"/>
              <p:cNvSpPr>
                <a:spLocks noChangeShapeType="1"/>
              </p:cNvSpPr>
              <p:nvPr/>
            </p:nvSpPr>
            <p:spPr bwMode="auto">
              <a:xfrm>
                <a:off x="5431313" y="3420189"/>
                <a:ext cx="216258" cy="437623"/>
              </a:xfrm>
              <a:prstGeom prst="line">
                <a:avLst/>
              </a:prstGeom>
              <a:solidFill>
                <a:schemeClr val="bg2">
                  <a:alpha val="50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24" name="Rectangle 23"/>
            <p:cNvSpPr/>
            <p:nvPr/>
          </p:nvSpPr>
          <p:spPr>
            <a:xfrm>
              <a:off x="6170612" y="5334000"/>
              <a:ext cx="5105400" cy="609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0A22E"/>
                </a:buClr>
                <a:buSzPct val="80000"/>
              </a:pPr>
              <a:r>
                <a:rPr lang="en-US" sz="3200" b="1" dirty="0">
                  <a:latin typeface="Consolas" panose="020B0609020204030204" pitchFamily="49" charset="0"/>
                  <a:cs typeface="Consolas" panose="020B0609020204030204" pitchFamily="49" charset="0"/>
                  <a:sym typeface="Wingdings" panose="05000000000000000000" pitchFamily="2" charset="2"/>
                </a:rPr>
                <a:t> </a:t>
              </a:r>
              <a:r>
                <a:rPr lang="en-US" sz="3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3 11 9 20 31 25 17 </a:t>
              </a:r>
            </a:p>
          </p:txBody>
        </p:sp>
      </p:grp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63830" y="2471153"/>
            <a:ext cx="5374931" cy="327202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postOrder</a:t>
            </a:r>
            <a:r>
              <a:rPr lang="en-US" sz="2700" b="1" noProof="1">
                <a:latin typeface="Consolas" pitchFamily="49" charset="0"/>
              </a:rPr>
              <a:t> (node) {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if (node != null) }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postOrder</a:t>
            </a:r>
            <a:r>
              <a:rPr lang="en-US" sz="2700" b="1" noProof="1">
                <a:latin typeface="Consolas" pitchFamily="49" charset="0"/>
              </a:rPr>
              <a:t>(node.left)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</a:t>
            </a:r>
            <a:r>
              <a:rPr lang="en-US" sz="2700" b="1" noProof="1">
                <a:solidFill>
                  <a:schemeClr val="bg1"/>
                </a:solidFill>
                <a:latin typeface="Consolas" pitchFamily="49" charset="0"/>
              </a:rPr>
              <a:t>postOrder</a:t>
            </a:r>
            <a:r>
              <a:rPr lang="en-US" sz="2700" b="1" noProof="1">
                <a:latin typeface="Consolas" pitchFamily="49" charset="0"/>
              </a:rPr>
              <a:t>(node.right)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  print node.key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  }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5712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itchFamily="50" charset="-127"/>
              </a:rPr>
              <a:t>Solution: BT Traversals - </a:t>
            </a:r>
            <a:r>
              <a:rPr lang="en-US" altLang="ko-KR" dirty="0" err="1">
                <a:ea typeface="굴림" pitchFamily="50" charset="-127"/>
              </a:rPr>
              <a:t>ForEachInOrder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06514" y="1501883"/>
            <a:ext cx="10210802" cy="482007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public void ForEachInOrder(Action&lt;T&gt; action) {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if (this.LeftChild != null) {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  this.LeftChild.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ForEachInOrder</a:t>
            </a:r>
            <a:r>
              <a:rPr lang="en-GB" sz="2600" b="1" noProof="1">
                <a:latin typeface="Consolas" pitchFamily="49" charset="0"/>
              </a:rPr>
              <a:t>(action);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}</a:t>
            </a:r>
          </a:p>
          <a:p>
            <a:pPr defTabSz="1218438">
              <a:lnSpc>
                <a:spcPct val="105000"/>
              </a:lnSpc>
            </a:pPr>
            <a:endParaRPr lang="en-GB" sz="2600" b="1" noProof="1">
              <a:latin typeface="Consolas" pitchFamily="49" charset="0"/>
            </a:endParaRP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action.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Invoke</a:t>
            </a:r>
            <a:r>
              <a:rPr lang="en-GB" sz="2600" b="1" noProof="1">
                <a:latin typeface="Consolas" pitchFamily="49" charset="0"/>
              </a:rPr>
              <a:t>(this.Value);</a:t>
            </a:r>
          </a:p>
          <a:p>
            <a:pPr defTabSz="1218438">
              <a:lnSpc>
                <a:spcPct val="105000"/>
              </a:lnSpc>
            </a:pPr>
            <a:endParaRPr lang="en-GB" sz="2600" b="1" noProof="1">
              <a:latin typeface="Consolas" pitchFamily="49" charset="0"/>
            </a:endParaRP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if (this.RightChild != null) {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  this.RightChild.</a:t>
            </a:r>
            <a:r>
              <a:rPr lang="en-GB" sz="2600" b="1" noProof="1">
                <a:solidFill>
                  <a:schemeClr val="bg1"/>
                </a:solidFill>
                <a:latin typeface="Consolas" pitchFamily="49" charset="0"/>
              </a:rPr>
              <a:t>ForEachInOrder</a:t>
            </a:r>
            <a:r>
              <a:rPr lang="en-GB" sz="2600" b="1" noProof="1">
                <a:latin typeface="Consolas" pitchFamily="49" charset="0"/>
              </a:rPr>
              <a:t>(action);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 }</a:t>
            </a:r>
          </a:p>
          <a:p>
            <a:pPr defTabSz="1218438">
              <a:lnSpc>
                <a:spcPct val="105000"/>
              </a:lnSpc>
            </a:pPr>
            <a:r>
              <a:rPr lang="en-GB" sz="2600" b="1" noProof="1">
                <a:latin typeface="Consolas" pitchFamily="49" charset="0"/>
              </a:rPr>
              <a:t>}</a:t>
            </a:r>
            <a:endParaRPr lang="en-US" sz="2600" b="1" noProof="1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35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Heap, Binary Heap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6" y="1290406"/>
            <a:ext cx="2843787" cy="231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9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GB" b="1" dirty="0">
                <a:solidFill>
                  <a:schemeClr val="bg1"/>
                </a:solidFill>
              </a:rPr>
              <a:t>Heap</a:t>
            </a:r>
          </a:p>
          <a:p>
            <a:pPr lvl="1"/>
            <a:r>
              <a:rPr lang="en-GB" dirty="0"/>
              <a:t>Tree-based data structure</a:t>
            </a:r>
          </a:p>
          <a:p>
            <a:pPr lvl="1"/>
            <a:r>
              <a:rPr lang="en-GB" dirty="0"/>
              <a:t>Stored in an array</a:t>
            </a:r>
          </a:p>
          <a:p>
            <a:pPr>
              <a:buClr>
                <a:schemeClr val="tx1"/>
              </a:buClr>
            </a:pPr>
            <a:r>
              <a:rPr lang="en-GB" dirty="0"/>
              <a:t>Heaps hold the </a:t>
            </a:r>
            <a:r>
              <a:rPr lang="en-US" b="1" dirty="0">
                <a:solidFill>
                  <a:schemeClr val="bg1"/>
                </a:solidFill>
              </a:rPr>
              <a:t>heap property</a:t>
            </a:r>
            <a:r>
              <a:rPr lang="en-US" dirty="0"/>
              <a:t> for each node</a:t>
            </a:r>
            <a:r>
              <a:rPr lang="en-GB" dirty="0"/>
              <a:t>: </a:t>
            </a:r>
          </a:p>
          <a:p>
            <a:pPr lvl="1">
              <a:buClr>
                <a:schemeClr val="tx1"/>
              </a:buClr>
            </a:pPr>
            <a:r>
              <a:rPr lang="en-GB" b="1" dirty="0">
                <a:solidFill>
                  <a:schemeClr val="bg1"/>
                </a:solidFill>
              </a:rPr>
              <a:t>Min Heap</a:t>
            </a:r>
          </a:p>
          <a:p>
            <a:pPr lvl="2"/>
            <a:r>
              <a:rPr lang="en-GB" dirty="0"/>
              <a:t>parent ≤ children</a:t>
            </a:r>
          </a:p>
          <a:p>
            <a:pPr lvl="1">
              <a:buClr>
                <a:schemeClr val="tx1"/>
              </a:buClr>
            </a:pPr>
            <a:r>
              <a:rPr lang="en-GB" b="1" dirty="0">
                <a:solidFill>
                  <a:schemeClr val="bg1"/>
                </a:solidFill>
              </a:rPr>
              <a:t>Max Heap</a:t>
            </a:r>
          </a:p>
          <a:p>
            <a:pPr lvl="2"/>
            <a:r>
              <a:rPr lang="en-GB" dirty="0"/>
              <a:t>parent ≥ children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Heap?</a:t>
            </a:r>
          </a:p>
        </p:txBody>
      </p:sp>
    </p:spTree>
    <p:extLst>
      <p:ext uri="{BB962C8B-B14F-4D97-AF65-F5344CB8AC3E}">
        <p14:creationId xmlns:p14="http://schemas.microsoft.com/office/powerpoint/2010/main" val="1197681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GB" b="1" dirty="0">
                <a:solidFill>
                  <a:schemeClr val="bg1"/>
                </a:solidFill>
              </a:rPr>
              <a:t>Binary heap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Represents a Binary Tree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Shape property</a:t>
            </a:r>
            <a:r>
              <a:rPr lang="en-US" dirty="0"/>
              <a:t> </a:t>
            </a:r>
            <a:r>
              <a:rPr lang="en-GB" dirty="0"/>
              <a:t>- </a:t>
            </a:r>
            <a:r>
              <a:rPr lang="en-US" dirty="0"/>
              <a:t>Binary heap is a </a:t>
            </a:r>
            <a:r>
              <a:rPr lang="en-US" b="1" dirty="0">
                <a:solidFill>
                  <a:schemeClr val="bg1"/>
                </a:solidFill>
              </a:rPr>
              <a:t>complete binary tree</a:t>
            </a:r>
            <a:r>
              <a:rPr lang="en-US" dirty="0"/>
              <a:t>:</a:t>
            </a:r>
          </a:p>
          <a:p>
            <a:pPr lvl="2">
              <a:buClr>
                <a:schemeClr val="tx1"/>
              </a:buClr>
            </a:pPr>
            <a:r>
              <a:rPr lang="en-GB" dirty="0"/>
              <a:t>Every level, except the last, </a:t>
            </a:r>
            <a:br>
              <a:rPr lang="en-GB" dirty="0"/>
            </a:br>
            <a:r>
              <a:rPr lang="en-GB" dirty="0"/>
              <a:t>is </a:t>
            </a:r>
            <a:r>
              <a:rPr lang="en-GB" b="1" dirty="0">
                <a:solidFill>
                  <a:schemeClr val="bg1"/>
                </a:solidFill>
              </a:rPr>
              <a:t>completely filled</a:t>
            </a:r>
          </a:p>
          <a:p>
            <a:pPr lvl="2">
              <a:buClr>
                <a:schemeClr val="tx1"/>
              </a:buClr>
            </a:pPr>
            <a:r>
              <a:rPr lang="en-GB" dirty="0"/>
              <a:t>Last is filled </a:t>
            </a:r>
            <a:r>
              <a:rPr lang="en-GB" b="1" dirty="0">
                <a:solidFill>
                  <a:schemeClr val="bg1"/>
                </a:solidFill>
              </a:rPr>
              <a:t>from left to right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DDC0D9FD-7011-485B-81B6-D0F65632E4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15832" y="4144898"/>
            <a:ext cx="500380" cy="475713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030AE203-0689-4288-B50F-F9809DE272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74831" y="5138703"/>
            <a:ext cx="260451" cy="374565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B861F879-B3A8-4397-800F-721C21A1E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2021" y="5195601"/>
            <a:ext cx="187839" cy="34611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1423242F-E334-49E1-8D6B-040B69EC1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3939" y="4135415"/>
            <a:ext cx="468811" cy="50416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E606CED5-A8B4-4283-8D6A-91C47ABF5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3657600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2A7AC373-25B5-4908-ADDC-851E6136C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999" y="4570037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1A026849-234C-4AA3-AD18-323AED8BD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788" y="4569744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4" name="Oval 8">
            <a:extLst>
              <a:ext uri="{FF2B5EF4-FFF2-40B4-BE49-F238E27FC236}">
                <a16:creationId xmlns:a16="http://schemas.microsoft.com/office/drawing/2014/main" id="{1B90D1DD-6490-4BDD-98F7-61FF88A44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2527" y="5498752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15" name="Oval 9">
            <a:extLst>
              <a:ext uri="{FF2B5EF4-FFF2-40B4-BE49-F238E27FC236}">
                <a16:creationId xmlns:a16="http://schemas.microsoft.com/office/drawing/2014/main" id="{5F44D9EE-FBDD-4E1D-AEF0-89FBB07DB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765" y="5529073"/>
            <a:ext cx="661385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6678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492353"/>
              </p:ext>
            </p:extLst>
          </p:nvPr>
        </p:nvGraphicFramePr>
        <p:xfrm>
          <a:off x="5660916" y="3796653"/>
          <a:ext cx="3359385" cy="6314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1877">
                  <a:extLst>
                    <a:ext uri="{9D8B030D-6E8A-4147-A177-3AD203B41FA5}">
                      <a16:colId xmlns:a16="http://schemas.microsoft.com/office/drawing/2014/main" val="2409416756"/>
                    </a:ext>
                  </a:extLst>
                </a:gridCol>
                <a:gridCol w="671877">
                  <a:extLst>
                    <a:ext uri="{9D8B030D-6E8A-4147-A177-3AD203B41FA5}">
                      <a16:colId xmlns:a16="http://schemas.microsoft.com/office/drawing/2014/main" val="2298104586"/>
                    </a:ext>
                  </a:extLst>
                </a:gridCol>
                <a:gridCol w="671877">
                  <a:extLst>
                    <a:ext uri="{9D8B030D-6E8A-4147-A177-3AD203B41FA5}">
                      <a16:colId xmlns:a16="http://schemas.microsoft.com/office/drawing/2014/main" val="993805489"/>
                    </a:ext>
                  </a:extLst>
                </a:gridCol>
                <a:gridCol w="671877">
                  <a:extLst>
                    <a:ext uri="{9D8B030D-6E8A-4147-A177-3AD203B41FA5}">
                      <a16:colId xmlns:a16="http://schemas.microsoft.com/office/drawing/2014/main" val="1943271859"/>
                    </a:ext>
                  </a:extLst>
                </a:gridCol>
                <a:gridCol w="671877">
                  <a:extLst>
                    <a:ext uri="{9D8B030D-6E8A-4147-A177-3AD203B41FA5}">
                      <a16:colId xmlns:a16="http://schemas.microsoft.com/office/drawing/2014/main" val="4017457515"/>
                    </a:ext>
                  </a:extLst>
                </a:gridCol>
              </a:tblGrid>
              <a:tr h="6314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690332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Binary heap can be efficiently stored in an array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</a:rPr>
              <a:t>Parent(i)</a:t>
            </a:r>
            <a:r>
              <a:rPr lang="en-US" noProof="1"/>
              <a:t> = (i - 1) / 2</a:t>
            </a: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</a:rPr>
              <a:t>Left(i)</a:t>
            </a:r>
            <a:r>
              <a:rPr lang="en-US" noProof="1"/>
              <a:t> = 2 * i + 1; </a:t>
            </a:r>
            <a:r>
              <a:rPr lang="en-US" b="1" noProof="1">
                <a:solidFill>
                  <a:schemeClr val="bg1"/>
                </a:solidFill>
              </a:rPr>
              <a:t>Right(i) </a:t>
            </a:r>
            <a:r>
              <a:rPr lang="en-US" noProof="1"/>
              <a:t>= 2 * i + 2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– Array Implementation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AutoShape 5"/>
          <p:cNvSpPr>
            <a:spLocks noChangeArrowheads="1"/>
          </p:cNvSpPr>
          <p:nvPr/>
        </p:nvSpPr>
        <p:spPr bwMode="auto">
          <a:xfrm>
            <a:off x="5445333" y="1884169"/>
            <a:ext cx="3699127" cy="1055608"/>
          </a:xfrm>
          <a:prstGeom prst="wedgeRoundRectCallout">
            <a:avLst>
              <a:gd name="adj1" fmla="val -40827"/>
              <a:gd name="adj2" fmla="val 11261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GB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heap</a:t>
            </a:r>
            <a:r>
              <a:rPr lang="en-GB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GB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shape</a:t>
            </a:r>
            <a:r>
              <a:rPr lang="en-GB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properties are satisfied</a:t>
            </a:r>
            <a:endParaRPr lang="bg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Line 11">
            <a:extLst>
              <a:ext uri="{FF2B5EF4-FFF2-40B4-BE49-F238E27FC236}">
                <a16:creationId xmlns:a16="http://schemas.microsoft.com/office/drawing/2014/main" id="{DDC0D9FD-7011-485B-81B6-D0F65632E4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17669" y="2559155"/>
            <a:ext cx="500380" cy="475713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030AE203-0689-4288-B50F-F9809DE272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6668" y="3552960"/>
            <a:ext cx="260451" cy="374565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B861F879-B3A8-4397-800F-721C21A1E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3858" y="3609858"/>
            <a:ext cx="187839" cy="34611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1423242F-E334-49E1-8D6B-040B69EC1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5776" y="2549672"/>
            <a:ext cx="468811" cy="50416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E606CED5-A8B4-4283-8D6A-91C47ABF5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637" y="2071857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3" name="Oval 5">
            <a:extLst>
              <a:ext uri="{FF2B5EF4-FFF2-40B4-BE49-F238E27FC236}">
                <a16:creationId xmlns:a16="http://schemas.microsoft.com/office/drawing/2014/main" id="{2A7AC373-25B5-4908-ADDC-851E6136C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8836" y="2984294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1A026849-234C-4AA3-AD18-323AED8BD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625" y="2984001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6" name="Oval 8">
            <a:extLst>
              <a:ext uri="{FF2B5EF4-FFF2-40B4-BE49-F238E27FC236}">
                <a16:creationId xmlns:a16="http://schemas.microsoft.com/office/drawing/2014/main" id="{1B90D1DD-6490-4BDD-98F7-61FF88A44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364" y="3913009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5F44D9EE-FBDD-4E1D-AEF0-89FBB07DB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602" y="3943330"/>
            <a:ext cx="661385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A11F9D2-46F2-4EB5-89F2-28A90FB01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415057"/>
              </p:ext>
            </p:extLst>
          </p:nvPr>
        </p:nvGraphicFramePr>
        <p:xfrm>
          <a:off x="1088842" y="289560"/>
          <a:ext cx="3281822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4503">
                  <a:extLst>
                    <a:ext uri="{9D8B030D-6E8A-4147-A177-3AD203B41FA5}">
                      <a16:colId xmlns:a16="http://schemas.microsoft.com/office/drawing/2014/main" val="1839793027"/>
                    </a:ext>
                  </a:extLst>
                </a:gridCol>
                <a:gridCol w="654503">
                  <a:extLst>
                    <a:ext uri="{9D8B030D-6E8A-4147-A177-3AD203B41FA5}">
                      <a16:colId xmlns:a16="http://schemas.microsoft.com/office/drawing/2014/main" val="3310712889"/>
                    </a:ext>
                  </a:extLst>
                </a:gridCol>
                <a:gridCol w="663810">
                  <a:extLst>
                    <a:ext uri="{9D8B030D-6E8A-4147-A177-3AD203B41FA5}">
                      <a16:colId xmlns:a16="http://schemas.microsoft.com/office/drawing/2014/main" val="3151771699"/>
                    </a:ext>
                  </a:extLst>
                </a:gridCol>
                <a:gridCol w="654503">
                  <a:extLst>
                    <a:ext uri="{9D8B030D-6E8A-4147-A177-3AD203B41FA5}">
                      <a16:colId xmlns:a16="http://schemas.microsoft.com/office/drawing/2014/main" val="1910374378"/>
                    </a:ext>
                  </a:extLst>
                </a:gridCol>
                <a:gridCol w="654503">
                  <a:extLst>
                    <a:ext uri="{9D8B030D-6E8A-4147-A177-3AD203B41FA5}">
                      <a16:colId xmlns:a16="http://schemas.microsoft.com/office/drawing/2014/main" val="1173985056"/>
                    </a:ext>
                  </a:extLst>
                </a:gridCol>
              </a:tblGrid>
              <a:tr h="271992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8171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683" y="4418526"/>
            <a:ext cx="3292125" cy="49991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98F7865-45F8-431C-B1E5-E90280B557C7}"/>
              </a:ext>
            </a:extLst>
          </p:cNvPr>
          <p:cNvSpPr txBox="1"/>
          <p:nvPr/>
        </p:nvSpPr>
        <p:spPr>
          <a:xfrm>
            <a:off x="5833723" y="384013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C88237-FC72-42F3-B3EF-66A83D2BD446}"/>
              </a:ext>
            </a:extLst>
          </p:cNvPr>
          <p:cNvSpPr txBox="1"/>
          <p:nvPr/>
        </p:nvSpPr>
        <p:spPr>
          <a:xfrm>
            <a:off x="6487130" y="384013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F79E19-30A2-45EB-AFFA-95E6ED91790B}"/>
              </a:ext>
            </a:extLst>
          </p:cNvPr>
          <p:cNvSpPr txBox="1"/>
          <p:nvPr/>
        </p:nvSpPr>
        <p:spPr>
          <a:xfrm>
            <a:off x="7129258" y="3840132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0ACC6B-CC56-43F1-BD16-2B62817A47C2}"/>
              </a:ext>
            </a:extLst>
          </p:cNvPr>
          <p:cNvSpPr txBox="1"/>
          <p:nvPr/>
        </p:nvSpPr>
        <p:spPr>
          <a:xfrm>
            <a:off x="7798008" y="3840132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CDF35C-A4AB-4B07-82C6-FDB2EC0043A7}"/>
              </a:ext>
            </a:extLst>
          </p:cNvPr>
          <p:cNvSpPr txBox="1"/>
          <p:nvPr/>
        </p:nvSpPr>
        <p:spPr>
          <a:xfrm>
            <a:off x="8450899" y="3840132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176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dirty="0"/>
              <a:t>To preserve </a:t>
            </a:r>
            <a:r>
              <a:rPr lang="en-US" b="1" dirty="0">
                <a:solidFill>
                  <a:schemeClr val="bg1"/>
                </a:solidFill>
              </a:rPr>
              <a:t>heap properties</a:t>
            </a:r>
            <a:r>
              <a:rPr lang="en-US" dirty="0"/>
              <a:t>: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Insert</a:t>
            </a:r>
            <a:r>
              <a:rPr lang="en-US" dirty="0"/>
              <a:t> at the end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Heapify</a:t>
            </a:r>
            <a:r>
              <a:rPr lang="en-US" dirty="0"/>
              <a:t> element up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Right: Max Heap</a:t>
            </a:r>
          </a:p>
          <a:p>
            <a:pPr lvl="1"/>
            <a:r>
              <a:rPr lang="en-US" dirty="0"/>
              <a:t>Insert 16</a:t>
            </a:r>
          </a:p>
          <a:p>
            <a:pPr lvl="1"/>
            <a:r>
              <a:rPr lang="en-US" dirty="0"/>
              <a:t>Insert 25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 flipH="1">
            <a:off x="7015632" y="3154298"/>
            <a:ext cx="500380" cy="475713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 flipH="1">
            <a:off x="6374631" y="4148103"/>
            <a:ext cx="260451" cy="374565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>
            <a:off x="6991821" y="4205001"/>
            <a:ext cx="187839" cy="34611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8093739" y="3144815"/>
            <a:ext cx="468811" cy="50416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 flipH="1">
            <a:off x="8463104" y="4194230"/>
            <a:ext cx="140486" cy="382467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7467600" y="2667000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8426799" y="3579437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15</a:t>
            </a:r>
          </a:p>
        </p:txBody>
      </p:sp>
      <p:sp>
        <p:nvSpPr>
          <p:cNvPr id="16" name="Oval 7"/>
          <p:cNvSpPr>
            <a:spLocks noChangeArrowheads="1"/>
          </p:cNvSpPr>
          <p:nvPr/>
        </p:nvSpPr>
        <p:spPr bwMode="auto">
          <a:xfrm>
            <a:off x="6524588" y="3579144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17" name="Oval 8"/>
          <p:cNvSpPr>
            <a:spLocks noChangeArrowheads="1"/>
          </p:cNvSpPr>
          <p:nvPr/>
        </p:nvSpPr>
        <p:spPr bwMode="auto">
          <a:xfrm>
            <a:off x="5922327" y="4508152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6</a:t>
            </a:r>
          </a:p>
        </p:txBody>
      </p:sp>
      <p:sp>
        <p:nvSpPr>
          <p:cNvPr id="18" name="Oval 9"/>
          <p:cNvSpPr>
            <a:spLocks noChangeArrowheads="1"/>
          </p:cNvSpPr>
          <p:nvPr/>
        </p:nvSpPr>
        <p:spPr bwMode="auto">
          <a:xfrm>
            <a:off x="6966565" y="4538473"/>
            <a:ext cx="661385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9" name="Oval 10"/>
          <p:cNvSpPr>
            <a:spLocks noChangeArrowheads="1"/>
          </p:cNvSpPr>
          <p:nvPr/>
        </p:nvSpPr>
        <p:spPr bwMode="auto">
          <a:xfrm>
            <a:off x="7997586" y="4527002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8</a:t>
            </a: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8908640" y="4181630"/>
            <a:ext cx="217429" cy="390371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8965599" y="4527002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16</a:t>
            </a:r>
          </a:p>
        </p:txBody>
      </p:sp>
      <p:sp>
        <p:nvSpPr>
          <p:cNvPr id="22" name="AutoShape 5"/>
          <p:cNvSpPr>
            <a:spLocks noChangeArrowheads="1"/>
          </p:cNvSpPr>
          <p:nvPr/>
        </p:nvSpPr>
        <p:spPr bwMode="auto">
          <a:xfrm>
            <a:off x="9297082" y="2579180"/>
            <a:ext cx="2170663" cy="1055608"/>
          </a:xfrm>
          <a:prstGeom prst="wedgeRoundRectCallout">
            <a:avLst>
              <a:gd name="adj1" fmla="val -61532"/>
              <a:gd name="adj2" fmla="val 5146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GB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Satisfy </a:t>
            </a:r>
            <a:r>
              <a:rPr lang="en-GB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heap property</a:t>
            </a:r>
            <a:endParaRPr lang="bg-BG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AutoShape 5"/>
          <p:cNvSpPr>
            <a:spLocks noChangeArrowheads="1"/>
          </p:cNvSpPr>
          <p:nvPr/>
        </p:nvSpPr>
        <p:spPr bwMode="auto">
          <a:xfrm>
            <a:off x="1792710" y="3121173"/>
            <a:ext cx="3129570" cy="1055608"/>
          </a:xfrm>
          <a:prstGeom prst="wedgeRoundRectCallout">
            <a:avLst>
              <a:gd name="adj1" fmla="val -56237"/>
              <a:gd name="adj2" fmla="val -5196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GB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Promote while element &gt; parent</a:t>
            </a:r>
            <a:endParaRPr lang="bg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 flipH="1">
            <a:off x="5968849" y="5136884"/>
            <a:ext cx="127151" cy="37085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5" name="Oval 8"/>
          <p:cNvSpPr>
            <a:spLocks noChangeArrowheads="1"/>
          </p:cNvSpPr>
          <p:nvPr/>
        </p:nvSpPr>
        <p:spPr bwMode="auto">
          <a:xfrm>
            <a:off x="5516546" y="5493221"/>
            <a:ext cx="662964" cy="647982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67619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2282E-6 2.59259E-6 L -0.04415 -0.1382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4" y="-692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4577E-6 -2.96296E-6 L 0.04415 0.138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1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0891E-6 1.85185E-6 L 0.03334 -0.14375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-7199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8281E-6 3.7037E-7 L -0.03334 0.14375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7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34 -0.14375 L 0.08271 -0.27917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2" y="-6782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6197E-6 -2.96296E-6 L -0.04937 0.13542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75" y="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271 -0.27917 L 0.16007 -0.41204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8" y="-6644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51211E-8 -1.11111E-6 L -0.07736 0.13287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68" y="6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20" grpId="0" animBg="1"/>
      <p:bldP spid="21" grpId="0" animBg="1"/>
      <p:bldP spid="21" grpId="1" animBg="1"/>
      <p:bldP spid="22" grpId="0" animBg="1"/>
      <p:bldP spid="23" grpId="0" animBg="1"/>
      <p:bldP spid="24" grpId="0" animBg="1"/>
      <p:bldP spid="25" grpId="0" animBg="1"/>
      <p:bldP spid="25" grpId="1" animBg="1"/>
      <p:bldP spid="25" grpId="2" animBg="1"/>
      <p:bldP spid="25" grpId="3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altLang="ko-KR" dirty="0"/>
              <a:t>Implement a max </a:t>
            </a:r>
            <a:r>
              <a:rPr lang="en-US" altLang="ko-KR" b="1" dirty="0" err="1">
                <a:solidFill>
                  <a:schemeClr val="bg1"/>
                </a:solidFill>
              </a:rPr>
              <a:t>MaxHeap</a:t>
            </a:r>
            <a:r>
              <a:rPr lang="en-US" altLang="ko-KR" b="1" dirty="0">
                <a:solidFill>
                  <a:schemeClr val="bg1"/>
                </a:solidFill>
              </a:rPr>
              <a:t>&lt;T&gt;</a:t>
            </a:r>
            <a:r>
              <a:rPr lang="en-US" altLang="ko-KR" dirty="0"/>
              <a:t> with:</a:t>
            </a:r>
          </a:p>
          <a:p>
            <a:pPr lvl="1">
              <a:buClr>
                <a:schemeClr val="tx1"/>
              </a:buClr>
            </a:pPr>
            <a:r>
              <a:rPr lang="en-US" altLang="ko-KR" b="1" dirty="0">
                <a:solidFill>
                  <a:schemeClr val="bg1"/>
                </a:solidFill>
              </a:rPr>
              <a:t>int Size</a:t>
            </a:r>
            <a:endParaRPr lang="en-US" altLang="ko-KR" b="1" dirty="0"/>
          </a:p>
          <a:p>
            <a:pPr lvl="1">
              <a:buClr>
                <a:schemeClr val="tx1"/>
              </a:buClr>
            </a:pPr>
            <a:r>
              <a:rPr lang="en-US" altLang="ko-KR" b="1" dirty="0">
                <a:solidFill>
                  <a:schemeClr val="bg1"/>
                </a:solidFill>
              </a:rPr>
              <a:t>void Add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chemeClr val="bg1"/>
                </a:solidFill>
              </a:rPr>
              <a:t>T element</a:t>
            </a:r>
            <a:r>
              <a:rPr lang="en-US" altLang="ko-KR" b="1" dirty="0"/>
              <a:t>)</a:t>
            </a:r>
            <a:r>
              <a:rPr lang="en-US" altLang="ko-KR" dirty="0"/>
              <a:t> – O(logN)</a:t>
            </a:r>
          </a:p>
          <a:p>
            <a:pPr lvl="1">
              <a:buClr>
                <a:schemeClr val="tx1"/>
              </a:buClr>
            </a:pPr>
            <a:r>
              <a:rPr lang="en-US" altLang="ko-KR" b="1" dirty="0">
                <a:solidFill>
                  <a:schemeClr val="bg1"/>
                </a:solidFill>
              </a:rPr>
              <a:t>T peek</a:t>
            </a:r>
            <a:r>
              <a:rPr lang="en-US" altLang="ko-KR" b="1" dirty="0"/>
              <a:t>()</a:t>
            </a:r>
            <a:r>
              <a:rPr lang="en-US" altLang="ko-KR" dirty="0"/>
              <a:t> – O(1)</a:t>
            </a:r>
          </a:p>
        </p:txBody>
      </p:sp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Problem: </a:t>
            </a:r>
            <a:r>
              <a:rPr lang="en-GB" altLang="ko-KR" dirty="0"/>
              <a:t>Heap Add and Peek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42" name="Group 41"/>
          <p:cNvGrpSpPr/>
          <p:nvPr/>
        </p:nvGrpSpPr>
        <p:grpSpPr>
          <a:xfrm>
            <a:off x="2812658" y="3687335"/>
            <a:ext cx="3706236" cy="2519455"/>
            <a:chOff x="2782365" y="3943936"/>
            <a:chExt cx="3706236" cy="2519455"/>
          </a:xfrm>
        </p:grpSpPr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H="1">
              <a:off x="3875670" y="4431234"/>
              <a:ext cx="500380" cy="475713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 flipH="1">
              <a:off x="3234669" y="5425039"/>
              <a:ext cx="260451" cy="374565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3851859" y="5481937"/>
              <a:ext cx="187839" cy="346116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4953777" y="4421751"/>
              <a:ext cx="468811" cy="504162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 flipH="1">
              <a:off x="5323142" y="5471166"/>
              <a:ext cx="140486" cy="382467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4" name="Oval 4"/>
            <p:cNvSpPr>
              <a:spLocks noChangeArrowheads="1"/>
            </p:cNvSpPr>
            <p:nvPr/>
          </p:nvSpPr>
          <p:spPr bwMode="auto">
            <a:xfrm>
              <a:off x="4327638" y="3943936"/>
              <a:ext cx="662964" cy="647982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15" name="Oval 5"/>
            <p:cNvSpPr>
              <a:spLocks noChangeArrowheads="1"/>
            </p:cNvSpPr>
            <p:nvPr/>
          </p:nvSpPr>
          <p:spPr bwMode="auto">
            <a:xfrm>
              <a:off x="5286837" y="4856373"/>
              <a:ext cx="662964" cy="647982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16" name="Oval 7"/>
            <p:cNvSpPr>
              <a:spLocks noChangeArrowheads="1"/>
            </p:cNvSpPr>
            <p:nvPr/>
          </p:nvSpPr>
          <p:spPr bwMode="auto">
            <a:xfrm>
              <a:off x="3384626" y="4856080"/>
              <a:ext cx="662964" cy="647982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17" name="Oval 8"/>
            <p:cNvSpPr>
              <a:spLocks noChangeArrowheads="1"/>
            </p:cNvSpPr>
            <p:nvPr/>
          </p:nvSpPr>
          <p:spPr bwMode="auto">
            <a:xfrm>
              <a:off x="2782365" y="5785088"/>
              <a:ext cx="662964" cy="647982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18" name="Oval 9"/>
            <p:cNvSpPr>
              <a:spLocks noChangeArrowheads="1"/>
            </p:cNvSpPr>
            <p:nvPr/>
          </p:nvSpPr>
          <p:spPr bwMode="auto">
            <a:xfrm>
              <a:off x="3826603" y="5815409"/>
              <a:ext cx="661385" cy="647982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19" name="Oval 10"/>
            <p:cNvSpPr>
              <a:spLocks noChangeArrowheads="1"/>
            </p:cNvSpPr>
            <p:nvPr/>
          </p:nvSpPr>
          <p:spPr bwMode="auto">
            <a:xfrm>
              <a:off x="4857624" y="5803938"/>
              <a:ext cx="662964" cy="647982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8</a:t>
              </a: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5768678" y="5458566"/>
              <a:ext cx="217429" cy="390371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5825637" y="5803938"/>
              <a:ext cx="662964" cy="647982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16</a:t>
              </a:r>
            </a:p>
          </p:txBody>
        </p:sp>
      </p:grpSp>
      <p:sp>
        <p:nvSpPr>
          <p:cNvPr id="23" name="Oval 8"/>
          <p:cNvSpPr>
            <a:spLocks noChangeArrowheads="1"/>
          </p:cNvSpPr>
          <p:nvPr/>
        </p:nvSpPr>
        <p:spPr bwMode="auto">
          <a:xfrm>
            <a:off x="1748387" y="4342046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7241814" y="2781920"/>
            <a:ext cx="4037718" cy="3447464"/>
            <a:chOff x="7239882" y="3105736"/>
            <a:chExt cx="4037718" cy="3447464"/>
          </a:xfrm>
        </p:grpSpPr>
        <p:sp>
          <p:nvSpPr>
            <p:cNvPr id="36" name="Oval 10"/>
            <p:cNvSpPr>
              <a:spLocks noChangeArrowheads="1"/>
            </p:cNvSpPr>
            <p:nvPr/>
          </p:nvSpPr>
          <p:spPr bwMode="auto">
            <a:xfrm>
              <a:off x="10614636" y="4965738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24" name="Line 11"/>
            <p:cNvSpPr>
              <a:spLocks noChangeShapeType="1"/>
            </p:cNvSpPr>
            <p:nvPr/>
          </p:nvSpPr>
          <p:spPr bwMode="auto">
            <a:xfrm flipH="1">
              <a:off x="8664669" y="3593034"/>
              <a:ext cx="500380" cy="4757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5" name="Line 12"/>
            <p:cNvSpPr>
              <a:spLocks noChangeShapeType="1"/>
            </p:cNvSpPr>
            <p:nvPr/>
          </p:nvSpPr>
          <p:spPr bwMode="auto">
            <a:xfrm flipH="1">
              <a:off x="8023668" y="4586839"/>
              <a:ext cx="260451" cy="3745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8640858" y="4643737"/>
              <a:ext cx="187839" cy="3461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" name="Line 15"/>
            <p:cNvSpPr>
              <a:spLocks noChangeShapeType="1"/>
            </p:cNvSpPr>
            <p:nvPr/>
          </p:nvSpPr>
          <p:spPr bwMode="auto">
            <a:xfrm>
              <a:off x="9742776" y="3583551"/>
              <a:ext cx="468811" cy="5041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 flipH="1">
              <a:off x="10112141" y="4632966"/>
              <a:ext cx="140486" cy="382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" name="Oval 4"/>
            <p:cNvSpPr>
              <a:spLocks noChangeArrowheads="1"/>
            </p:cNvSpPr>
            <p:nvPr/>
          </p:nvSpPr>
          <p:spPr bwMode="auto">
            <a:xfrm>
              <a:off x="9116637" y="3105736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25</a:t>
              </a:r>
            </a:p>
          </p:txBody>
        </p:sp>
        <p:sp>
          <p:nvSpPr>
            <p:cNvPr id="30" name="Oval 5"/>
            <p:cNvSpPr>
              <a:spLocks noChangeArrowheads="1"/>
            </p:cNvSpPr>
            <p:nvPr/>
          </p:nvSpPr>
          <p:spPr bwMode="auto">
            <a:xfrm>
              <a:off x="10075836" y="4018173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31" name="Oval 7"/>
            <p:cNvSpPr>
              <a:spLocks noChangeArrowheads="1"/>
            </p:cNvSpPr>
            <p:nvPr/>
          </p:nvSpPr>
          <p:spPr bwMode="auto">
            <a:xfrm>
              <a:off x="8173625" y="4017880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32" name="Oval 8"/>
            <p:cNvSpPr>
              <a:spLocks noChangeArrowheads="1"/>
            </p:cNvSpPr>
            <p:nvPr/>
          </p:nvSpPr>
          <p:spPr bwMode="auto">
            <a:xfrm>
              <a:off x="7571364" y="4946888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33" name="Oval 9"/>
            <p:cNvSpPr>
              <a:spLocks noChangeArrowheads="1"/>
            </p:cNvSpPr>
            <p:nvPr/>
          </p:nvSpPr>
          <p:spPr bwMode="auto">
            <a:xfrm>
              <a:off x="8615602" y="4977209"/>
              <a:ext cx="661385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34" name="Oval 10"/>
            <p:cNvSpPr>
              <a:spLocks noChangeArrowheads="1"/>
            </p:cNvSpPr>
            <p:nvPr/>
          </p:nvSpPr>
          <p:spPr bwMode="auto">
            <a:xfrm>
              <a:off x="9646623" y="4965738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8</a:t>
              </a:r>
            </a:p>
          </p:txBody>
        </p:sp>
        <p:sp>
          <p:nvSpPr>
            <p:cNvPr id="35" name="Line 16"/>
            <p:cNvSpPr>
              <a:spLocks noChangeShapeType="1"/>
            </p:cNvSpPr>
            <p:nvPr/>
          </p:nvSpPr>
          <p:spPr bwMode="auto">
            <a:xfrm>
              <a:off x="10557677" y="4620366"/>
              <a:ext cx="217429" cy="390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7" name="Oval 8"/>
            <p:cNvSpPr>
              <a:spLocks noChangeArrowheads="1"/>
            </p:cNvSpPr>
            <p:nvPr/>
          </p:nvSpPr>
          <p:spPr bwMode="auto">
            <a:xfrm>
              <a:off x="7239882" y="5905218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38" name="Line 12"/>
            <p:cNvSpPr>
              <a:spLocks noChangeShapeType="1"/>
            </p:cNvSpPr>
            <p:nvPr/>
          </p:nvSpPr>
          <p:spPr bwMode="auto">
            <a:xfrm flipH="1">
              <a:off x="7647133" y="5549468"/>
              <a:ext cx="112768" cy="3557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2" name="Arrow: Right 1"/>
          <p:cNvSpPr/>
          <p:nvPr/>
        </p:nvSpPr>
        <p:spPr>
          <a:xfrm>
            <a:off x="6215716" y="4662053"/>
            <a:ext cx="496364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124466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Solution: </a:t>
            </a:r>
            <a:r>
              <a:rPr lang="en-GB" altLang="ko-KR" dirty="0"/>
              <a:t>Heap Add and Peek (1)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35903" y="1550812"/>
            <a:ext cx="11659331" cy="472165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public class MaxHeap&lt;T&gt; : IAbstractHeap&lt;T&gt;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where</a:t>
            </a:r>
            <a:r>
              <a:rPr lang="en-US" sz="2800" b="1" noProof="1">
                <a:latin typeface="Consolas" pitchFamily="49" charset="0"/>
              </a:rPr>
              <a:t> T :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IComparable</a:t>
            </a:r>
            <a:r>
              <a:rPr lang="en-US" sz="2800" b="1" noProof="1">
                <a:latin typeface="Consolas" pitchFamily="49" charset="0"/>
              </a:rPr>
              <a:t>&lt;T&gt;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{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solidFill>
                  <a:schemeClr val="accent2"/>
                </a:solidFill>
                <a:latin typeface="Consolas" pitchFamily="49" charset="0"/>
              </a:rPr>
              <a:t>    // TODO: store the elements</a:t>
            </a:r>
            <a:endParaRPr lang="en-US" sz="2800" b="1" noProof="1">
              <a:latin typeface="Consolas" pitchFamily="49" charset="0"/>
            </a:endParaRP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public void Add(T element) 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{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    this._elements.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Add</a:t>
            </a:r>
            <a:r>
              <a:rPr lang="en-US" sz="2800" b="1" noProof="1">
                <a:latin typeface="Consolas" pitchFamily="49" charset="0"/>
              </a:rPr>
              <a:t>(element);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    this.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HeapifyUp</a:t>
            </a:r>
            <a:r>
              <a:rPr lang="en-US" sz="2800" b="1" noProof="1">
                <a:latin typeface="Consolas" pitchFamily="49" charset="0"/>
              </a:rPr>
              <a:t>(this.Size - 1);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}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281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Solution: </a:t>
            </a:r>
            <a:r>
              <a:rPr lang="en-GB" altLang="ko-KR" dirty="0"/>
              <a:t>Heap Add and Peek (2)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70447" y="1446154"/>
            <a:ext cx="11724787" cy="472165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private void HeapifyUp(int index) 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{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int parentIndex = this.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GetParentIndex</a:t>
            </a:r>
            <a:r>
              <a:rPr lang="en-US" sz="2800" b="1" noProof="1">
                <a:latin typeface="Consolas" pitchFamily="49" charset="0"/>
              </a:rPr>
              <a:t>(index);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while (index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&gt;</a:t>
            </a:r>
            <a:r>
              <a:rPr lang="en-US" sz="2800" b="1" noProof="1">
                <a:latin typeface="Consolas" pitchFamily="49" charset="0"/>
              </a:rPr>
              <a:t> 0 &amp;&amp;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IsGreater</a:t>
            </a:r>
            <a:r>
              <a:rPr lang="en-US" sz="2800" b="1" noProof="1">
                <a:latin typeface="Consolas" pitchFamily="49" charset="0"/>
              </a:rPr>
              <a:t>(index, parentIndex)) {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    this.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Swap</a:t>
            </a:r>
            <a:r>
              <a:rPr lang="en-US" sz="2800" b="1" noProof="1">
                <a:latin typeface="Consolas" pitchFamily="49" charset="0"/>
              </a:rPr>
              <a:t>(index, parentIndex);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    index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=</a:t>
            </a:r>
            <a:r>
              <a:rPr lang="en-US" sz="2800" b="1" noProof="1">
                <a:latin typeface="Consolas" pitchFamily="49" charset="0"/>
              </a:rPr>
              <a:t> parentIndex;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    parentIndex = this.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GetParentIndex</a:t>
            </a:r>
            <a:r>
              <a:rPr lang="en-US" sz="2800" b="1" noProof="1">
                <a:latin typeface="Consolas" pitchFamily="49" charset="0"/>
              </a:rPr>
              <a:t>(index);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}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}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solidFill>
                  <a:schemeClr val="accent2"/>
                </a:solidFill>
                <a:latin typeface="Consolas" pitchFamily="49" charset="0"/>
              </a:rPr>
              <a:t>//TODO: Implement GetParentIndex(), IsGreater() and Swap()</a:t>
            </a:r>
          </a:p>
        </p:txBody>
      </p:sp>
    </p:spTree>
    <p:extLst>
      <p:ext uri="{BB962C8B-B14F-4D97-AF65-F5344CB8AC3E}">
        <p14:creationId xmlns:p14="http://schemas.microsoft.com/office/powerpoint/2010/main" val="2073572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Priority Queue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Dequeue Most Significant Element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608097043"/>
              </p:ext>
            </p:extLst>
          </p:nvPr>
        </p:nvGraphicFramePr>
        <p:xfrm>
          <a:off x="4371759" y="1798757"/>
          <a:ext cx="3448482" cy="1730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23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ADS representing queue or stack like DS</a:t>
            </a:r>
          </a:p>
          <a:p>
            <a:pPr lvl="1"/>
            <a:r>
              <a:rPr lang="en-US" sz="3400" dirty="0"/>
              <a:t>Each element is </a:t>
            </a:r>
            <a:r>
              <a:rPr lang="en-US" sz="3400" b="1" dirty="0">
                <a:solidFill>
                  <a:schemeClr val="bg1"/>
                </a:solidFill>
              </a:rPr>
              <a:t>served</a:t>
            </a:r>
            <a:r>
              <a:rPr lang="en-US" sz="3400" dirty="0"/>
              <a:t> in </a:t>
            </a:r>
            <a:r>
              <a:rPr lang="en-US" sz="3400" b="1" dirty="0">
                <a:solidFill>
                  <a:schemeClr val="bg1"/>
                </a:solidFill>
              </a:rPr>
              <a:t>priority</a:t>
            </a:r>
          </a:p>
          <a:p>
            <a:pPr lvl="1"/>
            <a:r>
              <a:rPr lang="en-US" sz="3400" dirty="0"/>
              <a:t>High priority is served </a:t>
            </a:r>
            <a:r>
              <a:rPr lang="en-US" sz="3400" b="1" dirty="0">
                <a:solidFill>
                  <a:schemeClr val="bg1"/>
                </a:solidFill>
              </a:rPr>
              <a:t>before</a:t>
            </a:r>
            <a:r>
              <a:rPr lang="en-US" sz="3400" dirty="0"/>
              <a:t> low priority</a:t>
            </a:r>
            <a:endParaRPr lang="en-US" sz="3400" b="1" dirty="0">
              <a:solidFill>
                <a:schemeClr val="bg1"/>
              </a:solidFill>
            </a:endParaRPr>
          </a:p>
          <a:p>
            <a:pPr lvl="1"/>
            <a:r>
              <a:rPr lang="en-US" sz="3400" dirty="0"/>
              <a:t>Elements with </a:t>
            </a:r>
            <a:r>
              <a:rPr lang="en-US" sz="3400" b="1" dirty="0">
                <a:solidFill>
                  <a:schemeClr val="bg1"/>
                </a:solidFill>
              </a:rPr>
              <a:t>equal</a:t>
            </a:r>
            <a:r>
              <a:rPr lang="en-US" sz="3400" dirty="0"/>
              <a:t> priority</a:t>
            </a:r>
          </a:p>
          <a:p>
            <a:pPr lvl="2"/>
            <a:r>
              <a:rPr lang="en-US" sz="3400" dirty="0"/>
              <a:t>Served in </a:t>
            </a:r>
            <a:r>
              <a:rPr lang="en-US" sz="3400" b="1" dirty="0">
                <a:solidFill>
                  <a:schemeClr val="bg1"/>
                </a:solidFill>
              </a:rPr>
              <a:t>order</a:t>
            </a:r>
            <a:r>
              <a:rPr lang="en-US" sz="3400" dirty="0"/>
              <a:t> of </a:t>
            </a:r>
            <a:r>
              <a:rPr lang="en-US" sz="3400" b="1" dirty="0">
                <a:solidFill>
                  <a:schemeClr val="bg1"/>
                </a:solidFill>
              </a:rPr>
              <a:t>input</a:t>
            </a:r>
            <a:r>
              <a:rPr lang="en-US" sz="3400" dirty="0"/>
              <a:t> or </a:t>
            </a:r>
            <a:r>
              <a:rPr lang="en-US" sz="3400" b="1" dirty="0">
                <a:solidFill>
                  <a:schemeClr val="bg1"/>
                </a:solidFill>
              </a:rPr>
              <a:t>undefined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053750269"/>
              </p:ext>
            </p:extLst>
          </p:nvPr>
        </p:nvGraphicFramePr>
        <p:xfrm>
          <a:off x="3790766" y="4279612"/>
          <a:ext cx="4886664" cy="2476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328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Retains a </a:t>
            </a:r>
            <a:r>
              <a:rPr lang="en-US" b="1" dirty="0">
                <a:solidFill>
                  <a:schemeClr val="bg1"/>
                </a:solidFill>
              </a:rPr>
              <a:t>specific order</a:t>
            </a:r>
            <a:r>
              <a:rPr lang="en-US" dirty="0"/>
              <a:t> to the elements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Higher priority</a:t>
            </a:r>
            <a:r>
              <a:rPr lang="en-US" dirty="0"/>
              <a:t> elements are </a:t>
            </a:r>
            <a:r>
              <a:rPr lang="en-US" b="1" dirty="0">
                <a:solidFill>
                  <a:schemeClr val="bg1"/>
                </a:solidFill>
              </a:rPr>
              <a:t>pushed to the beginning</a:t>
            </a:r>
            <a:r>
              <a:rPr lang="en-US" dirty="0"/>
              <a:t> of the queue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Lower priority</a:t>
            </a:r>
            <a:r>
              <a:rPr lang="en-US" dirty="0"/>
              <a:t> elements are </a:t>
            </a:r>
            <a:r>
              <a:rPr lang="en-US" b="1" dirty="0">
                <a:solidFill>
                  <a:schemeClr val="bg1"/>
                </a:solidFill>
              </a:rPr>
              <a:t>pushed to the end</a:t>
            </a:r>
            <a:r>
              <a:rPr lang="en-US" dirty="0"/>
              <a:t> of the queue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 (1)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8" name="Text Placeholder 7"/>
          <p:cNvSpPr txBox="1">
            <a:spLocks/>
          </p:cNvSpPr>
          <p:nvPr/>
        </p:nvSpPr>
        <p:spPr>
          <a:xfrm flipH="1">
            <a:off x="4038597" y="4747059"/>
            <a:ext cx="3581401" cy="5539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80000" tIns="91440" rIns="180000" bIns="91440" rtlCol="0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1"/>
          </a:p>
        </p:txBody>
      </p:sp>
      <p:sp>
        <p:nvSpPr>
          <p:cNvPr id="19" name="Text Placeholder 7"/>
          <p:cNvSpPr txBox="1">
            <a:spLocks/>
          </p:cNvSpPr>
          <p:nvPr/>
        </p:nvSpPr>
        <p:spPr>
          <a:xfrm flipH="1">
            <a:off x="901797" y="4754835"/>
            <a:ext cx="1612805" cy="5539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80000" tIns="91440" rIns="180000" bIns="91440" rtlCol="0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1"/>
              <a:t>A</a:t>
            </a:r>
          </a:p>
        </p:txBody>
      </p:sp>
      <p:sp>
        <p:nvSpPr>
          <p:cNvPr id="21" name="Text Placeholder 7"/>
          <p:cNvSpPr txBox="1">
            <a:spLocks/>
          </p:cNvSpPr>
          <p:nvPr/>
        </p:nvSpPr>
        <p:spPr>
          <a:xfrm flipH="1">
            <a:off x="901797" y="4756576"/>
            <a:ext cx="1612805" cy="5539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80000" tIns="91440" rIns="180000" bIns="91440" rtlCol="0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1"/>
              <a:t>B</a:t>
            </a:r>
          </a:p>
        </p:txBody>
      </p:sp>
      <p:cxnSp>
        <p:nvCxnSpPr>
          <p:cNvPr id="16" name="Straight Arrow Connector 15"/>
          <p:cNvCxnSpPr>
            <a:cxnSpLocks/>
          </p:cNvCxnSpPr>
          <p:nvPr/>
        </p:nvCxnSpPr>
        <p:spPr>
          <a:xfrm rot="10800000" flipH="1">
            <a:off x="7698109" y="4970186"/>
            <a:ext cx="1219200" cy="87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 rot="10800000" flipH="1">
            <a:off x="2667000" y="5027534"/>
            <a:ext cx="1219200" cy="87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19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938E-7 3.7037E-6 L 0.41 0.00092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00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 0.00092 L 0.26622 0.00092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89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938E-7 -4.81481E-6 L 0.41 -0.00092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0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003 -0.00092 L 0.70404 -0.00879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01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622 0.00092 L 0.41 0.0009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9" grpId="1" animBg="1"/>
      <p:bldP spid="19" grpId="2" animBg="1"/>
      <p:bldP spid="21" grpId="0" animBg="1"/>
      <p:bldP spid="21" grpId="1" animBg="1"/>
      <p:bldP spid="21" grpId="2" animBg="1"/>
      <p:bldP spid="21" grpId="3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Priority queue </a:t>
            </a:r>
            <a:r>
              <a:rPr lang="en-US" dirty="0"/>
              <a:t>abstract data type (ADT) supports: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Add(T element)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Dequeue()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max</a:t>
            </a:r>
            <a:r>
              <a:rPr lang="en-US" dirty="0">
                <a:sym typeface="Wingdings" panose="05000000000000000000" pitchFamily="2" charset="2"/>
              </a:rPr>
              <a:t>/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min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element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Peek()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max</a:t>
            </a:r>
            <a:r>
              <a:rPr lang="en-US" dirty="0">
                <a:sym typeface="Wingdings" panose="05000000000000000000" pitchFamily="2" charset="2"/>
              </a:rPr>
              <a:t>/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min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element</a:t>
            </a:r>
          </a:p>
          <a:p>
            <a:r>
              <a:rPr lang="en-US" dirty="0">
                <a:sym typeface="Wingdings" panose="05000000000000000000" pitchFamily="2" charset="2"/>
              </a:rPr>
              <a:t>Where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element</a:t>
            </a:r>
            <a:r>
              <a:rPr lang="en-US" dirty="0">
                <a:sym typeface="Wingdings" panose="05000000000000000000" pitchFamily="2" charset="2"/>
              </a:rPr>
              <a:t> has a priority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Queue (2)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16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In Java usually the priority is passed as comparator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E.g. </a:t>
            </a:r>
            <a:r>
              <a:rPr lang="en-US" b="1" dirty="0" err="1">
                <a:solidFill>
                  <a:schemeClr val="bg1"/>
                </a:solidFill>
                <a:sym typeface="Wingdings" panose="05000000000000000000" pitchFamily="2" charset="2"/>
              </a:rPr>
              <a:t>IComparable</a:t>
            </a:r>
            <a:r>
              <a:rPr lang="en-US" b="1" dirty="0">
                <a:sym typeface="Wingdings" panose="05000000000000000000" pitchFamily="2" charset="2"/>
              </a:rPr>
              <a:t>&lt;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T</a:t>
            </a:r>
            <a:r>
              <a:rPr lang="en-US" b="1" dirty="0">
                <a:sym typeface="Wingdings" panose="05000000000000000000" pitchFamily="2" charset="2"/>
              </a:rPr>
              <a:t>&gt;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40539" y="2937935"/>
            <a:ext cx="11140284" cy="200706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fr-FR" sz="2800" b="1" noProof="1">
                <a:latin typeface="Consolas" pitchFamily="49" charset="0"/>
              </a:rPr>
              <a:t>public class PriorityQueue&lt;T&gt; : IAbstractHeap&lt;T&gt;</a:t>
            </a:r>
          </a:p>
          <a:p>
            <a:pPr defTabSz="1218438">
              <a:lnSpc>
                <a:spcPct val="105000"/>
              </a:lnSpc>
            </a:pPr>
            <a:r>
              <a:rPr lang="fr-FR" sz="2800" b="1" noProof="1">
                <a:latin typeface="Consolas" pitchFamily="49" charset="0"/>
              </a:rPr>
              <a:t>  where T : IComparable&lt;T&gt;</a:t>
            </a:r>
            <a:r>
              <a:rPr lang="en-US" sz="2800" b="1" noProof="1">
                <a:latin typeface="Consolas" pitchFamily="49" charset="0"/>
              </a:rPr>
              <a:t> {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	...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707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Unsorted Resizing Array</a:t>
            </a:r>
            <a:endParaRPr lang="bg-BG" dirty="0">
              <a:sym typeface="Wingdings" panose="05000000000000000000" pitchFamily="2" charset="2"/>
            </a:endParaRPr>
          </a:p>
          <a:p>
            <a:pPr lvl="1"/>
            <a:r>
              <a:rPr lang="en-GB" dirty="0">
                <a:sym typeface="Wingdings" panose="05000000000000000000" pitchFamily="2" charset="2"/>
              </a:rPr>
              <a:t>ex.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Sorted Resizing Array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ex.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Queue – Complexity Goal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87264"/>
              </p:ext>
            </p:extLst>
          </p:nvPr>
        </p:nvGraphicFramePr>
        <p:xfrm>
          <a:off x="1027112" y="4191000"/>
          <a:ext cx="10134600" cy="2072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33650">
                  <a:extLst>
                    <a:ext uri="{9D8B030D-6E8A-4147-A177-3AD203B41FA5}">
                      <a16:colId xmlns:a16="http://schemas.microsoft.com/office/drawing/2014/main" val="281408183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306839607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178133613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232958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1218438" rtl="0" eaLnBrk="1" latinLnBrk="1" hangingPunct="1"/>
                      <a:r>
                        <a:rPr lang="en-GB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Insert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Poll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Peek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432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1218438" rtl="0" eaLnBrk="1" latinLnBrk="1" hangingPunct="1"/>
                      <a:r>
                        <a:rPr lang="en-GB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Unsorted Array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43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1218438" rtl="0" eaLnBrk="1" latinLnBrk="1" hangingPunct="1"/>
                      <a:endParaRPr lang="en-GB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266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1218438" rtl="0" eaLnBrk="1" latinLnBrk="1" hangingPunct="1"/>
                      <a:r>
                        <a:rPr lang="en-GB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Goal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91292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27113" y="5234536"/>
            <a:ext cx="2538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Sorted Array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0406" y="4704100"/>
            <a:ext cx="1044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8063" y="4704100"/>
            <a:ext cx="112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0502" y="5234539"/>
            <a:ext cx="822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664" y="5731751"/>
            <a:ext cx="1432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O(logN)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0297" y="5731751"/>
            <a:ext cx="1639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O(logN)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0344" y="5757759"/>
            <a:ext cx="14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O(logN)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5800" y="5234536"/>
            <a:ext cx="1181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844" y="5208528"/>
            <a:ext cx="822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0381" y="4748822"/>
            <a:ext cx="822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O(1)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044916"/>
              </p:ext>
            </p:extLst>
          </p:nvPr>
        </p:nvGraphicFramePr>
        <p:xfrm>
          <a:off x="2012433" y="3321061"/>
          <a:ext cx="3102120" cy="4755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0424">
                  <a:extLst>
                    <a:ext uri="{9D8B030D-6E8A-4147-A177-3AD203B41FA5}">
                      <a16:colId xmlns:a16="http://schemas.microsoft.com/office/drawing/2014/main" val="4136432121"/>
                    </a:ext>
                  </a:extLst>
                </a:gridCol>
                <a:gridCol w="620424">
                  <a:extLst>
                    <a:ext uri="{9D8B030D-6E8A-4147-A177-3AD203B41FA5}">
                      <a16:colId xmlns:a16="http://schemas.microsoft.com/office/drawing/2014/main" val="3004138950"/>
                    </a:ext>
                  </a:extLst>
                </a:gridCol>
                <a:gridCol w="620424">
                  <a:extLst>
                    <a:ext uri="{9D8B030D-6E8A-4147-A177-3AD203B41FA5}">
                      <a16:colId xmlns:a16="http://schemas.microsoft.com/office/drawing/2014/main" val="3158375937"/>
                    </a:ext>
                  </a:extLst>
                </a:gridCol>
                <a:gridCol w="620424">
                  <a:extLst>
                    <a:ext uri="{9D8B030D-6E8A-4147-A177-3AD203B41FA5}">
                      <a16:colId xmlns:a16="http://schemas.microsoft.com/office/drawing/2014/main" val="2794549910"/>
                    </a:ext>
                  </a:extLst>
                </a:gridCol>
                <a:gridCol w="620424">
                  <a:extLst>
                    <a:ext uri="{9D8B030D-6E8A-4147-A177-3AD203B41FA5}">
                      <a16:colId xmlns:a16="http://schemas.microsoft.com/office/drawing/2014/main" val="3324964104"/>
                    </a:ext>
                  </a:extLst>
                </a:gridCol>
              </a:tblGrid>
              <a:tr h="4755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828689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931484"/>
              </p:ext>
            </p:extLst>
          </p:nvPr>
        </p:nvGraphicFramePr>
        <p:xfrm>
          <a:off x="2014879" y="1970461"/>
          <a:ext cx="3102120" cy="4755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0424">
                  <a:extLst>
                    <a:ext uri="{9D8B030D-6E8A-4147-A177-3AD203B41FA5}">
                      <a16:colId xmlns:a16="http://schemas.microsoft.com/office/drawing/2014/main" val="4136432121"/>
                    </a:ext>
                  </a:extLst>
                </a:gridCol>
                <a:gridCol w="620424">
                  <a:extLst>
                    <a:ext uri="{9D8B030D-6E8A-4147-A177-3AD203B41FA5}">
                      <a16:colId xmlns:a16="http://schemas.microsoft.com/office/drawing/2014/main" val="3004138950"/>
                    </a:ext>
                  </a:extLst>
                </a:gridCol>
                <a:gridCol w="620424">
                  <a:extLst>
                    <a:ext uri="{9D8B030D-6E8A-4147-A177-3AD203B41FA5}">
                      <a16:colId xmlns:a16="http://schemas.microsoft.com/office/drawing/2014/main" val="3158375937"/>
                    </a:ext>
                  </a:extLst>
                </a:gridCol>
                <a:gridCol w="620424">
                  <a:extLst>
                    <a:ext uri="{9D8B030D-6E8A-4147-A177-3AD203B41FA5}">
                      <a16:colId xmlns:a16="http://schemas.microsoft.com/office/drawing/2014/main" val="2794549910"/>
                    </a:ext>
                  </a:extLst>
                </a:gridCol>
                <a:gridCol w="620424">
                  <a:extLst>
                    <a:ext uri="{9D8B030D-6E8A-4147-A177-3AD203B41FA5}">
                      <a16:colId xmlns:a16="http://schemas.microsoft.com/office/drawing/2014/main" val="3324964104"/>
                    </a:ext>
                  </a:extLst>
                </a:gridCol>
              </a:tblGrid>
              <a:tr h="4755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828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00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chemeClr val="tx1"/>
              </a:buClr>
            </a:pPr>
            <a:r>
              <a:rPr lang="en-US" dirty="0"/>
              <a:t>To preserve </a:t>
            </a:r>
            <a:r>
              <a:rPr lang="en-US" b="1" dirty="0">
                <a:solidFill>
                  <a:schemeClr val="bg1"/>
                </a:solidFill>
              </a:rPr>
              <a:t>heap properties</a:t>
            </a:r>
            <a:r>
              <a:rPr lang="en-US" dirty="0"/>
              <a:t>: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Save</a:t>
            </a:r>
            <a:r>
              <a:rPr lang="en-US" dirty="0"/>
              <a:t> first element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Swap</a:t>
            </a:r>
            <a:r>
              <a:rPr lang="en-US" dirty="0"/>
              <a:t> first with last</a:t>
            </a:r>
            <a:endParaRPr lang="bg-BG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Remove</a:t>
            </a:r>
            <a:r>
              <a:rPr lang="en-US" dirty="0">
                <a:sym typeface="Wingdings" panose="05000000000000000000" pitchFamily="2" charset="2"/>
              </a:rPr>
              <a:t> last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Heapify</a:t>
            </a:r>
            <a:r>
              <a:rPr lang="en-US" dirty="0"/>
              <a:t> first down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Return</a:t>
            </a:r>
            <a:r>
              <a:rPr lang="en-US" dirty="0"/>
              <a:t> element</a:t>
            </a:r>
          </a:p>
          <a:p>
            <a:pPr lvl="1"/>
            <a:endParaRPr lang="en-US" dirty="0"/>
          </a:p>
          <a:p>
            <a:r>
              <a:rPr lang="en-US" dirty="0"/>
              <a:t>Right: Max Heap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Dequeue</a:t>
            </a:r>
            <a:r>
              <a:rPr lang="en-US" dirty="0"/>
              <a:t> – returns 25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PriorityQueue Deletion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 flipH="1">
            <a:off x="7015632" y="3154298"/>
            <a:ext cx="500380" cy="475713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 flipH="1">
            <a:off x="6374631" y="4148103"/>
            <a:ext cx="260451" cy="374565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>
            <a:off x="6991821" y="4205001"/>
            <a:ext cx="187839" cy="34611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8093739" y="3144815"/>
            <a:ext cx="468811" cy="50416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 flipH="1">
            <a:off x="8463104" y="4194230"/>
            <a:ext cx="140486" cy="382467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7467600" y="2667000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8426799" y="3579437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16</a:t>
            </a:r>
          </a:p>
        </p:txBody>
      </p:sp>
      <p:sp>
        <p:nvSpPr>
          <p:cNvPr id="16" name="Oval 7"/>
          <p:cNvSpPr>
            <a:spLocks noChangeArrowheads="1"/>
          </p:cNvSpPr>
          <p:nvPr/>
        </p:nvSpPr>
        <p:spPr bwMode="auto">
          <a:xfrm>
            <a:off x="6524588" y="3579144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17" name="Oval 8"/>
          <p:cNvSpPr>
            <a:spLocks noChangeArrowheads="1"/>
          </p:cNvSpPr>
          <p:nvPr/>
        </p:nvSpPr>
        <p:spPr bwMode="auto">
          <a:xfrm>
            <a:off x="5922327" y="4508152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18" name="Oval 9"/>
          <p:cNvSpPr>
            <a:spLocks noChangeArrowheads="1"/>
          </p:cNvSpPr>
          <p:nvPr/>
        </p:nvSpPr>
        <p:spPr bwMode="auto">
          <a:xfrm>
            <a:off x="6966565" y="4538473"/>
            <a:ext cx="661385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9" name="Oval 10"/>
          <p:cNvSpPr>
            <a:spLocks noChangeArrowheads="1"/>
          </p:cNvSpPr>
          <p:nvPr/>
        </p:nvSpPr>
        <p:spPr bwMode="auto">
          <a:xfrm>
            <a:off x="7997586" y="4527002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8</a:t>
            </a: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8908640" y="4181630"/>
            <a:ext cx="217429" cy="390371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8965599" y="4527002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15</a:t>
            </a:r>
          </a:p>
        </p:txBody>
      </p:sp>
      <p:sp>
        <p:nvSpPr>
          <p:cNvPr id="23" name="AutoShape 5"/>
          <p:cNvSpPr>
            <a:spLocks noChangeArrowheads="1"/>
          </p:cNvSpPr>
          <p:nvPr/>
        </p:nvSpPr>
        <p:spPr bwMode="auto">
          <a:xfrm>
            <a:off x="8396637" y="1887373"/>
            <a:ext cx="3480731" cy="1021556"/>
          </a:xfrm>
          <a:prstGeom prst="wedgeRoundRectCallout">
            <a:avLst>
              <a:gd name="adj1" fmla="val -55717"/>
              <a:gd name="adj2" fmla="val 4715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GB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Demote while </a:t>
            </a:r>
            <a:br>
              <a:rPr lang="en-GB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 &lt; greater child</a:t>
            </a:r>
            <a:endParaRPr lang="bg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 flipH="1">
            <a:off x="5968849" y="5136884"/>
            <a:ext cx="127151" cy="37085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5" name="Oval 8"/>
          <p:cNvSpPr>
            <a:spLocks noChangeArrowheads="1"/>
          </p:cNvSpPr>
          <p:nvPr/>
        </p:nvSpPr>
        <p:spPr bwMode="auto">
          <a:xfrm>
            <a:off x="5516546" y="5493221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6</a:t>
            </a:r>
          </a:p>
        </p:txBody>
      </p:sp>
      <p:sp>
        <p:nvSpPr>
          <p:cNvPr id="26" name="Oval 4"/>
          <p:cNvSpPr>
            <a:spLocks noChangeArrowheads="1"/>
          </p:cNvSpPr>
          <p:nvPr/>
        </p:nvSpPr>
        <p:spPr bwMode="auto">
          <a:xfrm>
            <a:off x="7467600" y="1539354"/>
            <a:ext cx="662964" cy="64798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3891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51211E-8 -1.11111E-6 L -0.16007 0.4120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36" y="20417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0891E-6 1.85185E-6 L 0.16007 -0.4120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58" y="-2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007 -0.41204 L 0.08271 -0.27893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5" y="655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6197E-6 -2.96296E-6 L 0.07736 -0.1331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0" y="-6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271 -0.27894 L 0.03321 -0.14352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3" y="6528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8281E-6 3.7037E-7 L 0.0495 -0.13541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8" y="-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6" grpId="0" animBg="1"/>
      <p:bldP spid="17" grpId="0" animBg="1"/>
      <p:bldP spid="23" grpId="0" animBg="1"/>
      <p:bldP spid="23" grpId="1" animBg="1"/>
      <p:bldP spid="24" grpId="0" animBg="1"/>
      <p:bldP spid="25" grpId="0" animBg="1"/>
      <p:bldP spid="25" grpId="1" animBg="1"/>
      <p:bldP spid="25" grpId="2" animBg="1"/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Using your </a:t>
            </a:r>
            <a:r>
              <a:rPr lang="en-US" altLang="ko-KR" b="1" dirty="0" err="1">
                <a:solidFill>
                  <a:schemeClr val="bg1"/>
                </a:solidFill>
              </a:rPr>
              <a:t>PriorityQueue</a:t>
            </a:r>
            <a:r>
              <a:rPr lang="en-US" altLang="ko-KR" b="1" dirty="0">
                <a:solidFill>
                  <a:schemeClr val="bg1"/>
                </a:solidFill>
              </a:rPr>
              <a:t>&lt;T&gt;</a:t>
            </a:r>
            <a:r>
              <a:rPr lang="en-US" altLang="ko-KR" dirty="0"/>
              <a:t> implement:</a:t>
            </a:r>
          </a:p>
          <a:p>
            <a:pPr lvl="1">
              <a:buClr>
                <a:schemeClr val="tx1"/>
              </a:buClr>
            </a:pPr>
            <a:r>
              <a:rPr lang="en-US" altLang="ko-KR" b="1" dirty="0">
                <a:solidFill>
                  <a:schemeClr val="bg1"/>
                </a:solidFill>
              </a:rPr>
              <a:t>E Dequeue()</a:t>
            </a:r>
            <a:r>
              <a:rPr lang="en-US" altLang="ko-KR" dirty="0"/>
              <a:t> – O(log(N))</a:t>
            </a:r>
          </a:p>
        </p:txBody>
      </p:sp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Problem: </a:t>
            </a:r>
            <a:r>
              <a:rPr lang="en-US" dirty="0"/>
              <a:t>PriorityQueue</a:t>
            </a:r>
            <a:r>
              <a:rPr lang="en-US" altLang="ko-KR" dirty="0"/>
              <a:t> Deletion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469439" y="3383902"/>
            <a:ext cx="3706236" cy="2519455"/>
            <a:chOff x="1460109" y="3352800"/>
            <a:chExt cx="3706236" cy="2519455"/>
          </a:xfrm>
        </p:grpSpPr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H="1">
              <a:off x="2553414" y="3840098"/>
              <a:ext cx="500380" cy="4757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 flipH="1">
              <a:off x="1912413" y="4833903"/>
              <a:ext cx="260451" cy="3745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2529603" y="4890801"/>
              <a:ext cx="187839" cy="3461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3631521" y="3830615"/>
              <a:ext cx="468811" cy="5041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 flipH="1">
              <a:off x="4000886" y="4880030"/>
              <a:ext cx="140486" cy="382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4" name="Oval 4"/>
            <p:cNvSpPr>
              <a:spLocks noChangeArrowheads="1"/>
            </p:cNvSpPr>
            <p:nvPr/>
          </p:nvSpPr>
          <p:spPr bwMode="auto">
            <a:xfrm>
              <a:off x="3005382" y="3352800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15" name="Oval 5"/>
            <p:cNvSpPr>
              <a:spLocks noChangeArrowheads="1"/>
            </p:cNvSpPr>
            <p:nvPr/>
          </p:nvSpPr>
          <p:spPr bwMode="auto">
            <a:xfrm>
              <a:off x="3964581" y="4265237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16" name="Oval 7"/>
            <p:cNvSpPr>
              <a:spLocks noChangeArrowheads="1"/>
            </p:cNvSpPr>
            <p:nvPr/>
          </p:nvSpPr>
          <p:spPr bwMode="auto">
            <a:xfrm>
              <a:off x="2062370" y="4264944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17" name="Oval 8"/>
            <p:cNvSpPr>
              <a:spLocks noChangeArrowheads="1"/>
            </p:cNvSpPr>
            <p:nvPr/>
          </p:nvSpPr>
          <p:spPr bwMode="auto">
            <a:xfrm>
              <a:off x="1460109" y="5193952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18" name="Oval 9"/>
            <p:cNvSpPr>
              <a:spLocks noChangeArrowheads="1"/>
            </p:cNvSpPr>
            <p:nvPr/>
          </p:nvSpPr>
          <p:spPr bwMode="auto">
            <a:xfrm>
              <a:off x="2504347" y="5224273"/>
              <a:ext cx="661385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19" name="Oval 10"/>
            <p:cNvSpPr>
              <a:spLocks noChangeArrowheads="1"/>
            </p:cNvSpPr>
            <p:nvPr/>
          </p:nvSpPr>
          <p:spPr bwMode="auto">
            <a:xfrm>
              <a:off x="3535368" y="5212802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8</a:t>
              </a: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4446422" y="4867430"/>
              <a:ext cx="217429" cy="390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4503381" y="5212802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16</a:t>
              </a:r>
            </a:p>
          </p:txBody>
        </p:sp>
      </p:grpSp>
      <p:sp>
        <p:nvSpPr>
          <p:cNvPr id="2" name="Arrow: Right 1"/>
          <p:cNvSpPr/>
          <p:nvPr/>
        </p:nvSpPr>
        <p:spPr>
          <a:xfrm>
            <a:off x="5745082" y="4070917"/>
            <a:ext cx="496364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grpSp>
        <p:nvGrpSpPr>
          <p:cNvPr id="7" name="Group 6"/>
          <p:cNvGrpSpPr/>
          <p:nvPr/>
        </p:nvGrpSpPr>
        <p:grpSpPr>
          <a:xfrm>
            <a:off x="6967164" y="3352800"/>
            <a:ext cx="3167436" cy="2519455"/>
            <a:chOff x="6967164" y="3352800"/>
            <a:chExt cx="3167436" cy="2519455"/>
          </a:xfrm>
        </p:grpSpPr>
        <p:sp>
          <p:nvSpPr>
            <p:cNvPr id="52" name="Line 11"/>
            <p:cNvSpPr>
              <a:spLocks noChangeShapeType="1"/>
            </p:cNvSpPr>
            <p:nvPr/>
          </p:nvSpPr>
          <p:spPr bwMode="auto">
            <a:xfrm flipH="1">
              <a:off x="8094846" y="3840098"/>
              <a:ext cx="500380" cy="4757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3" name="Line 12"/>
            <p:cNvSpPr>
              <a:spLocks noChangeShapeType="1"/>
            </p:cNvSpPr>
            <p:nvPr/>
          </p:nvSpPr>
          <p:spPr bwMode="auto">
            <a:xfrm flipH="1">
              <a:off x="7419468" y="4833903"/>
              <a:ext cx="260451" cy="3745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4" name="Line 13"/>
            <p:cNvSpPr>
              <a:spLocks noChangeShapeType="1"/>
            </p:cNvSpPr>
            <p:nvPr/>
          </p:nvSpPr>
          <p:spPr bwMode="auto">
            <a:xfrm>
              <a:off x="8036658" y="4890801"/>
              <a:ext cx="187839" cy="3461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5" name="Line 15"/>
            <p:cNvSpPr>
              <a:spLocks noChangeShapeType="1"/>
            </p:cNvSpPr>
            <p:nvPr/>
          </p:nvSpPr>
          <p:spPr bwMode="auto">
            <a:xfrm>
              <a:off x="9172953" y="3830615"/>
              <a:ext cx="468811" cy="5041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6" name="Line 16"/>
            <p:cNvSpPr>
              <a:spLocks noChangeShapeType="1"/>
            </p:cNvSpPr>
            <p:nvPr/>
          </p:nvSpPr>
          <p:spPr bwMode="auto">
            <a:xfrm flipH="1">
              <a:off x="9507941" y="4880030"/>
              <a:ext cx="140486" cy="382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7" name="Oval 4"/>
            <p:cNvSpPr>
              <a:spLocks noChangeArrowheads="1"/>
            </p:cNvSpPr>
            <p:nvPr/>
          </p:nvSpPr>
          <p:spPr bwMode="auto">
            <a:xfrm>
              <a:off x="8546814" y="3352800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58" name="Oval 5"/>
            <p:cNvSpPr>
              <a:spLocks noChangeArrowheads="1"/>
            </p:cNvSpPr>
            <p:nvPr/>
          </p:nvSpPr>
          <p:spPr bwMode="auto">
            <a:xfrm>
              <a:off x="9471636" y="4265237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59" name="Oval 7"/>
            <p:cNvSpPr>
              <a:spLocks noChangeArrowheads="1"/>
            </p:cNvSpPr>
            <p:nvPr/>
          </p:nvSpPr>
          <p:spPr bwMode="auto">
            <a:xfrm>
              <a:off x="7569425" y="4264944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60" name="Oval 8"/>
            <p:cNvSpPr>
              <a:spLocks noChangeArrowheads="1"/>
            </p:cNvSpPr>
            <p:nvPr/>
          </p:nvSpPr>
          <p:spPr bwMode="auto">
            <a:xfrm>
              <a:off x="6967164" y="5193952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61" name="Oval 9"/>
            <p:cNvSpPr>
              <a:spLocks noChangeArrowheads="1"/>
            </p:cNvSpPr>
            <p:nvPr/>
          </p:nvSpPr>
          <p:spPr bwMode="auto">
            <a:xfrm>
              <a:off x="8011402" y="5224273"/>
              <a:ext cx="661385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62" name="Oval 10"/>
            <p:cNvSpPr>
              <a:spLocks noChangeArrowheads="1"/>
            </p:cNvSpPr>
            <p:nvPr/>
          </p:nvSpPr>
          <p:spPr bwMode="auto">
            <a:xfrm>
              <a:off x="9042423" y="5212802"/>
              <a:ext cx="662964" cy="6479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6185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Solution: </a:t>
            </a:r>
            <a:r>
              <a:rPr lang="en-US" dirty="0"/>
              <a:t>PriorityQueue</a:t>
            </a:r>
            <a:r>
              <a:rPr lang="en-US" altLang="ko-KR" dirty="0"/>
              <a:t> Deletion (1)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60982" y="1377537"/>
            <a:ext cx="10515598" cy="426921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public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T</a:t>
            </a:r>
            <a:r>
              <a:rPr lang="en-US" sz="2800" b="1" noProof="1">
                <a:latin typeface="Consolas" pitchFamily="49" charset="0"/>
              </a:rPr>
              <a:t> Dequeue() 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{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this.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ValidateIfNotEmpty</a:t>
            </a:r>
            <a:r>
              <a:rPr lang="en-US" sz="2800" b="1" noProof="1">
                <a:latin typeface="Consolas" pitchFamily="49" charset="0"/>
              </a:rPr>
              <a:t>();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T element = this._elements[0];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this.Swap(0, this.Size – 1)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this._elements.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RemoveAt</a:t>
            </a:r>
            <a:r>
              <a:rPr lang="en-US" sz="2800" b="1" noProof="1">
                <a:latin typeface="Consolas" pitchFamily="49" charset="0"/>
              </a:rPr>
              <a:t>(this.Size - 1);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this.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HeapifyDown</a:t>
            </a:r>
            <a:r>
              <a:rPr lang="en-US" sz="2800" b="1" noProof="1">
                <a:latin typeface="Consolas" pitchFamily="49" charset="0"/>
              </a:rPr>
              <a:t>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0</a:t>
            </a:r>
            <a:r>
              <a:rPr lang="en-US" sz="2800" b="1" noProof="1">
                <a:latin typeface="Consolas" pitchFamily="49" charset="0"/>
              </a:rPr>
              <a:t>);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    return element;</a:t>
            </a:r>
          </a:p>
          <a:p>
            <a:pPr defTabSz="1218438"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367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Binary Search Trees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Two Children at Most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980419120"/>
              </p:ext>
            </p:extLst>
          </p:nvPr>
        </p:nvGraphicFramePr>
        <p:xfrm>
          <a:off x="4739951" y="971593"/>
          <a:ext cx="3348653" cy="2788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960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5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Binary search trees</a:t>
            </a:r>
            <a:r>
              <a:rPr lang="en-US" dirty="0"/>
              <a:t> are </a:t>
            </a:r>
            <a:r>
              <a:rPr lang="en-US" b="1" dirty="0">
                <a:solidFill>
                  <a:schemeClr val="bg1"/>
                </a:solidFill>
              </a:rPr>
              <a:t>ordered</a:t>
            </a:r>
            <a:endParaRPr lang="bg-BG" b="1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ym typeface="Symbol" pitchFamily="18" charset="2"/>
              </a:rPr>
              <a:t>For each node </a:t>
            </a:r>
            <a:r>
              <a:rPr lang="en-US" b="1" i="1" dirty="0">
                <a:solidFill>
                  <a:schemeClr val="bg1"/>
                </a:solidFill>
                <a:sym typeface="Symbol" pitchFamily="18" charset="2"/>
              </a:rPr>
              <a:t>x</a:t>
            </a:r>
          </a:p>
          <a:p>
            <a:pPr lvl="2"/>
            <a:r>
              <a:rPr lang="en-US" dirty="0">
                <a:sym typeface="Symbol" pitchFamily="18" charset="2"/>
              </a:rPr>
              <a:t>Elements in left subtree of </a:t>
            </a:r>
            <a:r>
              <a:rPr lang="en-US" b="1" i="1" dirty="0">
                <a:solidFill>
                  <a:schemeClr val="bg1"/>
                </a:solidFill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are </a:t>
            </a:r>
            <a:r>
              <a:rPr lang="en-US" b="1" i="1" noProof="1">
                <a:solidFill>
                  <a:schemeClr val="bg1"/>
                </a:solidFill>
                <a:sym typeface="Symbol" pitchFamily="18" charset="2"/>
              </a:rPr>
              <a:t>&lt;</a:t>
            </a:r>
            <a:r>
              <a:rPr lang="en-US" b="1" i="1" dirty="0">
                <a:solidFill>
                  <a:schemeClr val="bg1"/>
                </a:solidFill>
                <a:sym typeface="Symbol" pitchFamily="18" charset="2"/>
              </a:rPr>
              <a:t> x</a:t>
            </a:r>
          </a:p>
          <a:p>
            <a:pPr lvl="2"/>
            <a:r>
              <a:rPr lang="en-US" dirty="0">
                <a:sym typeface="Symbol" pitchFamily="18" charset="2"/>
              </a:rPr>
              <a:t>Elements in right subtree of </a:t>
            </a:r>
            <a:r>
              <a:rPr lang="en-US" b="1" i="1" dirty="0">
                <a:solidFill>
                  <a:schemeClr val="bg1"/>
                </a:solidFill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are </a:t>
            </a:r>
            <a:r>
              <a:rPr lang="en-US" b="1" i="1" dirty="0">
                <a:solidFill>
                  <a:schemeClr val="bg1"/>
                </a:solidFill>
                <a:sym typeface="Symbol" pitchFamily="18" charset="2"/>
              </a:rPr>
              <a:t>&gt; x</a:t>
            </a:r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8" name="Oval 4"/>
          <p:cNvSpPr>
            <a:spLocks noChangeArrowheads="1"/>
          </p:cNvSpPr>
          <p:nvPr/>
        </p:nvSpPr>
        <p:spPr bwMode="auto">
          <a:xfrm>
            <a:off x="10321076" y="5322861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31</a:t>
            </a: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8090690" y="3603598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9394218" y="4425923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11" name="Oval 7"/>
          <p:cNvSpPr>
            <a:spLocks noChangeArrowheads="1"/>
          </p:cNvSpPr>
          <p:nvPr/>
        </p:nvSpPr>
        <p:spPr bwMode="auto">
          <a:xfrm>
            <a:off x="6391449" y="4425923"/>
            <a:ext cx="804124" cy="778394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>
            <a:off x="5722141" y="5452996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6990246" y="5454587"/>
            <a:ext cx="806239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11</a:t>
            </a: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 flipH="1">
            <a:off x="7148783" y="4126164"/>
            <a:ext cx="969202" cy="50114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H="1">
            <a:off x="6256017" y="5069455"/>
            <a:ext cx="266631" cy="42120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6986627" y="5130131"/>
            <a:ext cx="218434" cy="373946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8840008" y="4191804"/>
            <a:ext cx="626157" cy="417672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Oval 14"/>
          <p:cNvSpPr>
            <a:spLocks noChangeArrowheads="1"/>
          </p:cNvSpPr>
          <p:nvPr/>
        </p:nvSpPr>
        <p:spPr bwMode="auto">
          <a:xfrm>
            <a:off x="8625701" y="5359682"/>
            <a:ext cx="804124" cy="776329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20</a:t>
            </a:r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 flipH="1">
            <a:off x="9246090" y="5130132"/>
            <a:ext cx="300914" cy="308305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10065025" y="5080558"/>
            <a:ext cx="381516" cy="344230"/>
          </a:xfrm>
          <a:prstGeom prst="line">
            <a:avLst/>
          </a:prstGeom>
          <a:grp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" name="AutoShape 17"/>
          <p:cNvSpPr>
            <a:spLocks noChangeArrowheads="1"/>
          </p:cNvSpPr>
          <p:nvPr/>
        </p:nvSpPr>
        <p:spPr bwMode="auto">
          <a:xfrm>
            <a:off x="5147829" y="3847288"/>
            <a:ext cx="3255823" cy="2534056"/>
          </a:xfrm>
          <a:prstGeom prst="triangle">
            <a:avLst>
              <a:gd name="adj" fmla="val 50569"/>
            </a:avLst>
          </a:prstGeom>
          <a:noFill/>
          <a:ln w="22225">
            <a:solidFill>
              <a:srgbClr val="00206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AutoShape 5"/>
          <p:cNvSpPr>
            <a:spLocks noChangeArrowheads="1"/>
          </p:cNvSpPr>
          <p:nvPr/>
        </p:nvSpPr>
        <p:spPr bwMode="auto">
          <a:xfrm>
            <a:off x="2509913" y="4874114"/>
            <a:ext cx="2563852" cy="578882"/>
          </a:xfrm>
          <a:prstGeom prst="wedgeRoundRectCallout">
            <a:avLst>
              <a:gd name="adj1" fmla="val 76750"/>
              <a:gd name="adj2" fmla="val -65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800" b="1" noProof="1">
                <a:solidFill>
                  <a:srgbClr val="FFFFFF"/>
                </a:solidFill>
                <a:sym typeface="Symbol" pitchFamily="18" charset="2"/>
              </a:rPr>
              <a:t>nodes are </a:t>
            </a:r>
            <a:r>
              <a:rPr lang="en-US" sz="2800" b="1" noProof="1">
                <a:solidFill>
                  <a:schemeClr val="bg1"/>
                </a:solidFill>
                <a:sym typeface="Symbol" pitchFamily="18" charset="2"/>
              </a:rPr>
              <a:t>&lt;</a:t>
            </a:r>
            <a:r>
              <a:rPr lang="en-US" sz="2800" b="1" noProof="1">
                <a:solidFill>
                  <a:srgbClr val="FFFFFF"/>
                </a:solidFill>
                <a:sym typeface="Symbol" pitchFamily="18" charset="2"/>
              </a:rPr>
              <a:t> 17</a:t>
            </a:r>
            <a:endParaRPr lang="bg-BG" sz="2800" b="1" dirty="0">
              <a:solidFill>
                <a:srgbClr val="FFFFFF"/>
              </a:solidFill>
            </a:endParaRPr>
          </a:p>
        </p:txBody>
      </p:sp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7148783" y="1988576"/>
            <a:ext cx="2563852" cy="578882"/>
          </a:xfrm>
          <a:prstGeom prst="wedgeRoundRectCallout">
            <a:avLst>
              <a:gd name="adj1" fmla="val -64393"/>
              <a:gd name="adj2" fmla="val 5583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800" b="1" noProof="1">
                <a:solidFill>
                  <a:srgbClr val="FFFFFF"/>
                </a:solidFill>
                <a:sym typeface="Symbol" pitchFamily="18" charset="2"/>
              </a:rPr>
              <a:t>what about == </a:t>
            </a:r>
            <a:endParaRPr lang="bg-BG"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81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ym typeface="Symbol" pitchFamily="18" charset="2"/>
              </a:rPr>
              <a:t>Search for </a:t>
            </a:r>
            <a:r>
              <a:rPr lang="en-US" b="1" dirty="0">
                <a:solidFill>
                  <a:schemeClr val="bg1"/>
                </a:solidFill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in BST</a:t>
            </a:r>
          </a:p>
          <a:p>
            <a:pPr lvl="1"/>
            <a:r>
              <a:rPr lang="en-GB" dirty="0">
                <a:sym typeface="Symbol" pitchFamily="18" charset="2"/>
              </a:rPr>
              <a:t>if node is not null</a:t>
            </a:r>
          </a:p>
          <a:p>
            <a:pPr lvl="2"/>
            <a:r>
              <a:rPr lang="en-GB" dirty="0">
                <a:sym typeface="Symbol" pitchFamily="18" charset="2"/>
              </a:rPr>
              <a:t>if x </a:t>
            </a:r>
            <a:r>
              <a:rPr lang="en-GB" sz="3398" b="1" dirty="0">
                <a:solidFill>
                  <a:schemeClr val="bg1"/>
                </a:solidFill>
                <a:sym typeface="Symbol" pitchFamily="18" charset="2"/>
              </a:rPr>
              <a:t>&lt;</a:t>
            </a:r>
            <a:r>
              <a:rPr lang="en-GB" dirty="0">
                <a:sym typeface="Symbol" pitchFamily="18" charset="2"/>
              </a:rPr>
              <a:t> </a:t>
            </a:r>
            <a:r>
              <a:rPr lang="en-GB" noProof="1">
                <a:sym typeface="Symbol" pitchFamily="18" charset="2"/>
              </a:rPr>
              <a:t>node.value</a:t>
            </a:r>
            <a:r>
              <a:rPr lang="en-GB" dirty="0">
                <a:sym typeface="Symbol" pitchFamily="18" charset="2"/>
              </a:rPr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sz="3398" b="1" dirty="0">
                <a:solidFill>
                  <a:schemeClr val="bg1"/>
                </a:solidFill>
                <a:sym typeface="Wingdings" panose="05000000000000000000" pitchFamily="2" charset="2"/>
              </a:rPr>
              <a:t>go left</a:t>
            </a:r>
          </a:p>
          <a:p>
            <a:pPr lvl="2"/>
            <a:r>
              <a:rPr lang="en-GB" dirty="0">
                <a:sym typeface="Wingdings" panose="05000000000000000000" pitchFamily="2" charset="2"/>
              </a:rPr>
              <a:t>else if x </a:t>
            </a:r>
            <a:r>
              <a:rPr lang="en-GB" sz="3398" b="1" dirty="0">
                <a:solidFill>
                  <a:schemeClr val="bg1"/>
                </a:solidFill>
                <a:sym typeface="Wingdings" panose="05000000000000000000" pitchFamily="2" charset="2"/>
              </a:rPr>
              <a:t>&gt;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noProof="1">
                <a:sym typeface="Wingdings" panose="05000000000000000000" pitchFamily="2" charset="2"/>
              </a:rPr>
              <a:t>node.value</a:t>
            </a:r>
            <a:r>
              <a:rPr lang="en-GB" dirty="0">
                <a:sym typeface="Wingdings" panose="05000000000000000000" pitchFamily="2" charset="2"/>
              </a:rPr>
              <a:t>  </a:t>
            </a:r>
            <a:r>
              <a:rPr lang="en-GB" sz="3398" b="1" dirty="0">
                <a:solidFill>
                  <a:schemeClr val="bg1"/>
                </a:solidFill>
                <a:sym typeface="Wingdings" panose="05000000000000000000" pitchFamily="2" charset="2"/>
              </a:rPr>
              <a:t>go right</a:t>
            </a:r>
          </a:p>
          <a:p>
            <a:pPr lvl="2"/>
            <a:r>
              <a:rPr lang="en-GB" dirty="0">
                <a:sym typeface="Wingdings" panose="05000000000000000000" pitchFamily="2" charset="2"/>
              </a:rPr>
              <a:t>else if x </a:t>
            </a:r>
            <a:r>
              <a:rPr lang="en-GB" sz="3398" b="1" dirty="0">
                <a:solidFill>
                  <a:schemeClr val="bg1"/>
                </a:solidFill>
                <a:sym typeface="Wingdings" panose="05000000000000000000" pitchFamily="2" charset="2"/>
              </a:rPr>
              <a:t>==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noProof="1">
                <a:sym typeface="Wingdings" panose="05000000000000000000" pitchFamily="2" charset="2"/>
              </a:rPr>
              <a:t>node.value</a:t>
            </a:r>
            <a:r>
              <a:rPr lang="en-GB" dirty="0">
                <a:sym typeface="Wingdings" panose="05000000000000000000" pitchFamily="2" charset="2"/>
              </a:rPr>
              <a:t>  </a:t>
            </a:r>
            <a:r>
              <a:rPr lang="en-GB" sz="3398" b="1" dirty="0">
                <a:solidFill>
                  <a:schemeClr val="bg1"/>
                </a:solidFill>
                <a:sym typeface="Wingdings" panose="05000000000000000000" pitchFamily="2" charset="2"/>
              </a:rPr>
              <a:t>return</a:t>
            </a:r>
            <a:endParaRPr lang="bg-BG" sz="3398" b="1" dirty="0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- Search</a:t>
            </a:r>
            <a:endParaRPr lang="bg-BG" dirty="0"/>
          </a:p>
        </p:txBody>
      </p:sp>
      <p:sp>
        <p:nvSpPr>
          <p:cNvPr id="23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6966607" y="1961147"/>
            <a:ext cx="4983712" cy="3352800"/>
            <a:chOff x="1939268" y="2057401"/>
            <a:chExt cx="4499280" cy="308206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3829392" y="2057401"/>
              <a:ext cx="763740" cy="738183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4896896" y="3194073"/>
              <a:ext cx="763740" cy="738183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2695373" y="3145786"/>
              <a:ext cx="762248" cy="738183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1939268" y="4400027"/>
              <a:ext cx="763740" cy="738183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auto">
            <a:xfrm>
              <a:off x="3417346" y="4401278"/>
              <a:ext cx="766724" cy="738183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12</a:t>
              </a:r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auto">
            <a:xfrm flipH="1">
              <a:off x="3346100" y="2612572"/>
              <a:ext cx="542611" cy="633046"/>
            </a:xfrm>
            <a:prstGeom prst="lin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6" name="Line 11"/>
            <p:cNvSpPr>
              <a:spLocks noChangeShapeType="1"/>
            </p:cNvSpPr>
            <p:nvPr/>
          </p:nvSpPr>
          <p:spPr bwMode="auto">
            <a:xfrm flipH="1">
              <a:off x="2481943" y="3862171"/>
              <a:ext cx="413316" cy="569151"/>
            </a:xfrm>
            <a:prstGeom prst="lin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7" name="Line 12"/>
            <p:cNvSpPr>
              <a:spLocks noChangeShapeType="1"/>
            </p:cNvSpPr>
            <p:nvPr/>
          </p:nvSpPr>
          <p:spPr bwMode="auto">
            <a:xfrm>
              <a:off x="3251769" y="3860719"/>
              <a:ext cx="390820" cy="559450"/>
            </a:xfrm>
            <a:prstGeom prst="lin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8" name="Line 13"/>
            <p:cNvSpPr>
              <a:spLocks noChangeShapeType="1"/>
            </p:cNvSpPr>
            <p:nvPr/>
          </p:nvSpPr>
          <p:spPr bwMode="auto">
            <a:xfrm>
              <a:off x="4495800" y="2667000"/>
              <a:ext cx="508279" cy="628859"/>
            </a:xfrm>
            <a:prstGeom prst="lin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auto">
            <a:xfrm>
              <a:off x="5674808" y="4399504"/>
              <a:ext cx="763740" cy="738183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25</a:t>
              </a:r>
            </a:p>
          </p:txBody>
        </p:sp>
        <p:sp>
          <p:nvSpPr>
            <p:cNvPr id="40" name="Line 15"/>
            <p:cNvSpPr>
              <a:spLocks noChangeShapeType="1"/>
            </p:cNvSpPr>
            <p:nvPr/>
          </p:nvSpPr>
          <p:spPr bwMode="auto">
            <a:xfrm>
              <a:off x="5466304" y="3888711"/>
              <a:ext cx="401934" cy="552659"/>
            </a:xfrm>
            <a:prstGeom prst="line">
              <a:avLst/>
            </a:prstGeom>
            <a:solidFill>
              <a:schemeClr val="bg2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41" name="Rectangle 40"/>
          <p:cNvSpPr/>
          <p:nvPr/>
        </p:nvSpPr>
        <p:spPr>
          <a:xfrm>
            <a:off x="440135" y="5029201"/>
            <a:ext cx="6276739" cy="1280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0A22E"/>
              </a:buClr>
              <a:buSzPct val="80000"/>
            </a:pP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Search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12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 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17 9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0A22E"/>
              </a:buClr>
              <a:buSzPct val="80000"/>
            </a:pP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Search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27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 17 19 25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null</a:t>
            </a:r>
            <a:endParaRPr lang="en-US" sz="32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4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ym typeface="Symbol" pitchFamily="18" charset="2"/>
              </a:rPr>
              <a:t>Insert </a:t>
            </a:r>
            <a:r>
              <a:rPr lang="en-US" b="1" dirty="0">
                <a:solidFill>
                  <a:schemeClr val="bg1"/>
                </a:solidFill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in BST</a:t>
            </a:r>
          </a:p>
          <a:p>
            <a:pPr lvl="1"/>
            <a:r>
              <a:rPr lang="en-GB" dirty="0">
                <a:sym typeface="Symbol" pitchFamily="18" charset="2"/>
              </a:rPr>
              <a:t>if node is </a:t>
            </a:r>
            <a:r>
              <a:rPr lang="en-GB" sz="3398" b="1" dirty="0">
                <a:solidFill>
                  <a:schemeClr val="bg1"/>
                </a:solidFill>
                <a:sym typeface="Symbol" pitchFamily="18" charset="2"/>
              </a:rPr>
              <a:t>null</a:t>
            </a:r>
            <a:r>
              <a:rPr lang="en-GB" dirty="0">
                <a:sym typeface="Symbol" pitchFamily="18" charset="2"/>
              </a:rPr>
              <a:t> </a:t>
            </a:r>
            <a:r>
              <a:rPr lang="en-GB" dirty="0">
                <a:sym typeface="Wingdings" panose="05000000000000000000" pitchFamily="2" charset="2"/>
              </a:rPr>
              <a:t> insert x</a:t>
            </a:r>
            <a:endParaRPr lang="en-GB" dirty="0">
              <a:sym typeface="Symbol" pitchFamily="18" charset="2"/>
            </a:endParaRPr>
          </a:p>
          <a:p>
            <a:pPr lvl="1"/>
            <a:r>
              <a:rPr lang="en-GB" dirty="0">
                <a:sym typeface="Symbol" pitchFamily="18" charset="2"/>
              </a:rPr>
              <a:t>else if x </a:t>
            </a:r>
            <a:r>
              <a:rPr lang="en-GB" sz="3398" b="1" dirty="0">
                <a:solidFill>
                  <a:schemeClr val="bg1"/>
                </a:solidFill>
                <a:sym typeface="Symbol" pitchFamily="18" charset="2"/>
              </a:rPr>
              <a:t>&lt;</a:t>
            </a:r>
            <a:r>
              <a:rPr lang="en-GB" dirty="0">
                <a:sym typeface="Symbol" pitchFamily="18" charset="2"/>
              </a:rPr>
              <a:t> </a:t>
            </a:r>
            <a:r>
              <a:rPr lang="en-GB" noProof="1">
                <a:sym typeface="Symbol" pitchFamily="18" charset="2"/>
              </a:rPr>
              <a:t>node.value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sz="3398" b="1" dirty="0">
                <a:solidFill>
                  <a:schemeClr val="bg1"/>
                </a:solidFill>
                <a:sym typeface="Wingdings" panose="05000000000000000000" pitchFamily="2" charset="2"/>
              </a:rPr>
              <a:t>go left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else if x </a:t>
            </a:r>
            <a:r>
              <a:rPr lang="en-GB" sz="3398" b="1" dirty="0">
                <a:solidFill>
                  <a:schemeClr val="bg1"/>
                </a:solidFill>
                <a:sym typeface="Wingdings" panose="05000000000000000000" pitchFamily="2" charset="2"/>
              </a:rPr>
              <a:t>&gt;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noProof="1">
                <a:sym typeface="Wingdings" panose="05000000000000000000" pitchFamily="2" charset="2"/>
              </a:rPr>
              <a:t>node.value</a:t>
            </a:r>
            <a:r>
              <a:rPr lang="en-GB" dirty="0">
                <a:sym typeface="Wingdings" panose="05000000000000000000" pitchFamily="2" charset="2"/>
              </a:rPr>
              <a:t>  </a:t>
            </a:r>
            <a:r>
              <a:rPr lang="en-GB" sz="3398" b="1" dirty="0">
                <a:solidFill>
                  <a:schemeClr val="bg1"/>
                </a:solidFill>
                <a:sym typeface="Wingdings" panose="05000000000000000000" pitchFamily="2" charset="2"/>
              </a:rPr>
              <a:t>go right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else  node </a:t>
            </a:r>
            <a:r>
              <a:rPr lang="en-GB" sz="3398" b="1" dirty="0">
                <a:solidFill>
                  <a:schemeClr val="bg1"/>
                </a:solidFill>
                <a:sym typeface="Wingdings" panose="05000000000000000000" pitchFamily="2" charset="2"/>
              </a:rPr>
              <a:t>exists</a:t>
            </a:r>
            <a:endParaRPr lang="bg-BG" sz="3398" b="1" dirty="0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- Insert</a:t>
            </a:r>
            <a:endParaRPr lang="bg-BG" dirty="0"/>
          </a:p>
        </p:txBody>
      </p:sp>
      <p:sp>
        <p:nvSpPr>
          <p:cNvPr id="23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440134" y="5029201"/>
            <a:ext cx="8170466" cy="1344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0A22E"/>
              </a:buClr>
              <a:buSzPct val="80000"/>
            </a:pP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Insert </a:t>
            </a:r>
            <a:r>
              <a:rPr lang="en-US" sz="3398" b="1" dirty="0">
                <a:solidFill>
                  <a:schemeClr val="bg1"/>
                </a:solidFill>
                <a:sym typeface="Wingdings" panose="05000000000000000000" pitchFamily="2" charset="2"/>
              </a:rPr>
              <a:t>12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 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17 9 </a:t>
            </a:r>
            <a:r>
              <a:rPr lang="en-US" sz="3398" b="1" dirty="0">
                <a:solidFill>
                  <a:schemeClr val="bg1"/>
                </a:solidFill>
              </a:rPr>
              <a:t>12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398" b="1" dirty="0">
                <a:solidFill>
                  <a:schemeClr val="bg1"/>
                </a:solidFill>
              </a:rPr>
              <a:t>return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0A22E"/>
              </a:buClr>
              <a:buSzPct val="80000"/>
            </a:pP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Insert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398" b="1" dirty="0">
                <a:solidFill>
                  <a:schemeClr val="bg1"/>
                </a:solidFill>
              </a:rPr>
              <a:t>27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 17 19 25 </a:t>
            </a:r>
            <a:r>
              <a:rPr lang="en-US" sz="3398" b="1" dirty="0">
                <a:solidFill>
                  <a:schemeClr val="bg1"/>
                </a:solidFill>
                <a:sym typeface="Wingdings" panose="05000000000000000000" pitchFamily="2" charset="2"/>
              </a:rPr>
              <a:t>null(insert)</a:t>
            </a:r>
            <a:endParaRPr lang="en-US" sz="3398" b="1" dirty="0">
              <a:solidFill>
                <a:schemeClr val="bg1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966607" y="1961147"/>
            <a:ext cx="4983712" cy="3352800"/>
            <a:chOff x="1939268" y="2057401"/>
            <a:chExt cx="4499280" cy="3082060"/>
          </a:xfrm>
        </p:grpSpPr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3829392" y="2057401"/>
              <a:ext cx="763740" cy="73818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4896896" y="3194073"/>
              <a:ext cx="763740" cy="73818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2695373" y="3145786"/>
              <a:ext cx="762248" cy="73818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1939268" y="4400027"/>
              <a:ext cx="763740" cy="73818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3417346" y="4401278"/>
              <a:ext cx="766724" cy="73818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12</a:t>
              </a:r>
            </a:p>
          </p:txBody>
        </p:sp>
        <p:sp>
          <p:nvSpPr>
            <p:cNvPr id="32" name="Line 10"/>
            <p:cNvSpPr>
              <a:spLocks noChangeShapeType="1"/>
            </p:cNvSpPr>
            <p:nvPr/>
          </p:nvSpPr>
          <p:spPr bwMode="auto">
            <a:xfrm flipH="1">
              <a:off x="3346100" y="2612572"/>
              <a:ext cx="542611" cy="6330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 flipH="1">
              <a:off x="2481943" y="3862171"/>
              <a:ext cx="413316" cy="5691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3" name="Line 12"/>
            <p:cNvSpPr>
              <a:spLocks noChangeShapeType="1"/>
            </p:cNvSpPr>
            <p:nvPr/>
          </p:nvSpPr>
          <p:spPr bwMode="auto">
            <a:xfrm>
              <a:off x="3251769" y="3860719"/>
              <a:ext cx="390820" cy="5594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Line 13"/>
            <p:cNvSpPr>
              <a:spLocks noChangeShapeType="1"/>
            </p:cNvSpPr>
            <p:nvPr/>
          </p:nvSpPr>
          <p:spPr bwMode="auto">
            <a:xfrm>
              <a:off x="4495800" y="2667000"/>
              <a:ext cx="508279" cy="6288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5674808" y="4399504"/>
              <a:ext cx="763740" cy="73818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25</a:t>
              </a:r>
            </a:p>
          </p:txBody>
        </p:sp>
        <p:sp>
          <p:nvSpPr>
            <p:cNvPr id="46" name="Line 15"/>
            <p:cNvSpPr>
              <a:spLocks noChangeShapeType="1"/>
            </p:cNvSpPr>
            <p:nvPr/>
          </p:nvSpPr>
          <p:spPr bwMode="auto">
            <a:xfrm>
              <a:off x="5466304" y="3888711"/>
              <a:ext cx="401934" cy="5526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245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You are given a skeleton</a:t>
            </a:r>
          </a:p>
          <a:p>
            <a:pPr lvl="1"/>
            <a:r>
              <a:rPr lang="en-US" altLang="ko-KR" dirty="0"/>
              <a:t>Implement </a:t>
            </a:r>
            <a:r>
              <a:rPr lang="en-US" altLang="ko-KR" b="1" dirty="0" err="1">
                <a:solidFill>
                  <a:schemeClr val="bg1"/>
                </a:solidFill>
              </a:rPr>
              <a:t>IAbstract</a:t>
            </a:r>
            <a:r>
              <a:rPr lang="en-US" altLang="ko-KR" b="1" noProof="1">
                <a:solidFill>
                  <a:schemeClr val="bg1"/>
                </a:solidFill>
              </a:rPr>
              <a:t>BinarySearchTree</a:t>
            </a:r>
            <a:r>
              <a:rPr lang="en-US" altLang="ko-KR" b="1" dirty="0"/>
              <a:t>&lt;</a:t>
            </a:r>
            <a:r>
              <a:rPr lang="en-US" altLang="ko-KR" b="1" dirty="0">
                <a:solidFill>
                  <a:schemeClr val="bg1"/>
                </a:solidFill>
              </a:rPr>
              <a:t>T</a:t>
            </a:r>
            <a:r>
              <a:rPr lang="en-US" altLang="ko-KR" b="1" dirty="0"/>
              <a:t>&gt;</a:t>
            </a:r>
          </a:p>
          <a:p>
            <a:pPr lvl="2">
              <a:buClr>
                <a:schemeClr val="tx1"/>
              </a:buClr>
            </a:pPr>
            <a:r>
              <a:rPr lang="en-US" altLang="ko-KR" b="1" noProof="1"/>
              <a:t>bool</a:t>
            </a:r>
            <a:r>
              <a:rPr lang="en-US" altLang="ko-KR" b="1" dirty="0">
                <a:solidFill>
                  <a:schemeClr val="bg1"/>
                </a:solidFill>
              </a:rPr>
              <a:t> Contains(T element)</a:t>
            </a:r>
          </a:p>
          <a:p>
            <a:pPr lvl="2">
              <a:buClr>
                <a:schemeClr val="tx1"/>
              </a:buClr>
            </a:pPr>
            <a:r>
              <a:rPr lang="en-US" altLang="ko-KR" b="1" dirty="0"/>
              <a:t>void</a:t>
            </a:r>
            <a:r>
              <a:rPr lang="en-US" altLang="ko-KR" b="1" dirty="0">
                <a:solidFill>
                  <a:schemeClr val="bg1"/>
                </a:solidFill>
              </a:rPr>
              <a:t> Insert(T element)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Problem: BST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3553569" y="4326640"/>
            <a:ext cx="2779718" cy="1745490"/>
            <a:chOff x="2695373" y="2057401"/>
            <a:chExt cx="2965263" cy="1874855"/>
          </a:xfrm>
        </p:grpSpPr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3829392" y="2057401"/>
              <a:ext cx="763740" cy="73818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4896896" y="3194073"/>
              <a:ext cx="763740" cy="73818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695373" y="3145786"/>
              <a:ext cx="762248" cy="73818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H="1">
              <a:off x="3346100" y="2612572"/>
              <a:ext cx="542611" cy="6330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4495800" y="2667000"/>
              <a:ext cx="508279" cy="6288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074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Solution: BST Contains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6766" y="1100850"/>
            <a:ext cx="11804829" cy="588966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public bool Contains(T element) 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Node&lt;T&gt; current = this.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Root</a:t>
            </a:r>
            <a:r>
              <a:rPr lang="en-GB" sz="2700" b="1" noProof="1">
                <a:latin typeface="Consolas" pitchFamily="49" charset="0"/>
              </a:rPr>
              <a:t>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while (current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!=</a:t>
            </a:r>
            <a:r>
              <a:rPr lang="en-GB" sz="2700" b="1" noProof="1">
                <a:latin typeface="Consolas" pitchFamily="49" charset="0"/>
              </a:rPr>
              <a:t> null) 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if (element.CompareTo(current.Value)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&lt;</a:t>
            </a:r>
            <a:r>
              <a:rPr lang="en-GB" sz="2700" b="1" noProof="1">
                <a:latin typeface="Consolas" pitchFamily="49" charset="0"/>
              </a:rPr>
              <a:t> 0){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    current = current.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LeftChild</a:t>
            </a:r>
            <a:r>
              <a:rPr lang="en-GB" sz="2700" b="1" noProof="1">
                <a:latin typeface="Consolas" pitchFamily="49" charset="0"/>
              </a:rPr>
              <a:t>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} else if (element.CompareTo(current.Value)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&gt;</a:t>
            </a:r>
            <a:r>
              <a:rPr lang="en-GB" sz="2700" b="1" noProof="1">
                <a:latin typeface="Consolas" pitchFamily="49" charset="0"/>
              </a:rPr>
              <a:t> 0){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    current = current.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RightChild</a:t>
            </a:r>
            <a:r>
              <a:rPr lang="en-GB" sz="2700" b="1" noProof="1">
                <a:latin typeface="Consolas" pitchFamily="49" charset="0"/>
              </a:rPr>
              <a:t>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} else 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   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break</a:t>
            </a:r>
            <a:r>
              <a:rPr lang="en-GB" sz="2700" b="1" noProof="1">
                <a:latin typeface="Consolas" pitchFamily="49" charset="0"/>
              </a:rPr>
              <a:t>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}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}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return current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!=</a:t>
            </a:r>
            <a:r>
              <a:rPr lang="en-GB" sz="2700" b="1" noProof="1">
                <a:latin typeface="Consolas" pitchFamily="49" charset="0"/>
              </a:rPr>
              <a:t> null;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}</a:t>
            </a:r>
            <a:endParaRPr lang="en-US" sz="2700" b="1" noProof="1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18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itchFamily="50" charset="-127"/>
              </a:rPr>
              <a:t>Solution: BST Insert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62607" y="1252652"/>
            <a:ext cx="10210802" cy="543338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public void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Insert</a:t>
            </a:r>
            <a:r>
              <a:rPr lang="en-GB" sz="2700" b="1" noProof="1">
                <a:latin typeface="Consolas" pitchFamily="49" charset="0"/>
              </a:rPr>
              <a:t>(T element) 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if (this.Root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==</a:t>
            </a:r>
            <a:r>
              <a:rPr lang="en-GB" sz="2700" b="1" noProof="1">
                <a:latin typeface="Consolas" pitchFamily="49" charset="0"/>
              </a:rPr>
              <a:t> null) 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this.Root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=</a:t>
            </a:r>
            <a:r>
              <a:rPr lang="en-GB" sz="2700" b="1" noProof="1">
                <a:latin typeface="Consolas" pitchFamily="49" charset="0"/>
              </a:rPr>
              <a:t> new Node&lt;T&gt;(element);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} else 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</a:t>
            </a:r>
            <a:r>
              <a:rPr lang="en-GB" sz="2700" b="1" noProof="1">
                <a:solidFill>
                  <a:schemeClr val="accent2"/>
                </a:solidFill>
                <a:latin typeface="Consolas" pitchFamily="49" charset="0"/>
              </a:rPr>
              <a:t>// TODO: Find the place to insert</a:t>
            </a:r>
            <a:endParaRPr lang="en-GB" sz="2700" b="1" noProof="1">
              <a:latin typeface="Consolas" pitchFamily="49" charset="0"/>
            </a:endParaRP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if (parent.Value.CompareTo(element)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&gt;</a:t>
            </a:r>
            <a:r>
              <a:rPr lang="en-GB" sz="2700" b="1" noProof="1">
                <a:latin typeface="Consolas" pitchFamily="49" charset="0"/>
              </a:rPr>
              <a:t> 0){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   parent.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LeftChild</a:t>
            </a:r>
            <a:r>
              <a:rPr lang="en-GB" sz="2700" b="1" noProof="1">
                <a:latin typeface="Consolas" pitchFamily="49" charset="0"/>
              </a:rPr>
              <a:t> = new Node&lt;T&gt;(element);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} else 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   parent.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RightChild</a:t>
            </a:r>
            <a:r>
              <a:rPr lang="en-GB" sz="2700" b="1" noProof="1">
                <a:latin typeface="Consolas" pitchFamily="49" charset="0"/>
              </a:rPr>
              <a:t> = new Node&lt;T&gt;(element);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    }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 }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}</a:t>
            </a:r>
            <a:endParaRPr lang="en-US" sz="2700" b="1" noProof="1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29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Implement: </a:t>
            </a:r>
          </a:p>
          <a:p>
            <a:pPr lvl="2">
              <a:buClr>
                <a:schemeClr val="tx1"/>
              </a:buClr>
            </a:pPr>
            <a:r>
              <a:rPr lang="en-US" altLang="ko-KR" b="1" dirty="0">
                <a:solidFill>
                  <a:schemeClr val="bg1"/>
                </a:solidFill>
              </a:rPr>
              <a:t>BST</a:t>
            </a:r>
            <a:r>
              <a:rPr lang="en-US" altLang="ko-KR" b="1" dirty="0"/>
              <a:t>&lt;</a:t>
            </a:r>
            <a:r>
              <a:rPr lang="en-US" altLang="ko-KR" b="1" dirty="0">
                <a:solidFill>
                  <a:schemeClr val="bg1"/>
                </a:solidFill>
              </a:rPr>
              <a:t>E</a:t>
            </a:r>
            <a:r>
              <a:rPr lang="en-US" altLang="ko-KR" b="1" dirty="0"/>
              <a:t>&gt;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noProof="1">
                <a:solidFill>
                  <a:schemeClr val="bg1"/>
                </a:solidFill>
              </a:rPr>
              <a:t>search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chemeClr val="bg1"/>
                </a:solidFill>
              </a:rPr>
              <a:t>E value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Make sure the method works for: </a:t>
            </a:r>
          </a:p>
          <a:p>
            <a:pPr lvl="1">
              <a:buClr>
                <a:schemeClr val="tx1"/>
              </a:buClr>
            </a:pPr>
            <a:r>
              <a:rPr lang="en-US" altLang="ko-KR" b="1" dirty="0">
                <a:solidFill>
                  <a:schemeClr val="bg1"/>
                </a:solidFill>
              </a:rPr>
              <a:t>empty tree</a:t>
            </a:r>
          </a:p>
          <a:p>
            <a:pPr lvl="1">
              <a:buClr>
                <a:schemeClr val="tx1"/>
              </a:buClr>
            </a:pPr>
            <a:r>
              <a:rPr lang="en-US" altLang="ko-KR" dirty="0"/>
              <a:t>tree with </a:t>
            </a:r>
            <a:r>
              <a:rPr lang="en-US" altLang="ko-KR" b="1" dirty="0">
                <a:solidFill>
                  <a:schemeClr val="bg1"/>
                </a:solidFill>
              </a:rPr>
              <a:t>one element</a:t>
            </a:r>
          </a:p>
          <a:p>
            <a:pPr lvl="1">
              <a:buClr>
                <a:schemeClr val="tx1"/>
              </a:buClr>
            </a:pPr>
            <a:r>
              <a:rPr lang="en-US" altLang="ko-KR" dirty="0"/>
              <a:t>tree with </a:t>
            </a:r>
            <a:r>
              <a:rPr lang="en-US" altLang="ko-KR" b="1" dirty="0">
                <a:solidFill>
                  <a:schemeClr val="bg1"/>
                </a:solidFill>
              </a:rPr>
              <a:t>two elements - root + left/right</a:t>
            </a:r>
          </a:p>
          <a:p>
            <a:pPr lvl="1">
              <a:buClr>
                <a:schemeClr val="tx1"/>
              </a:buClr>
            </a:pPr>
            <a:r>
              <a:rPr lang="en-US" altLang="ko-KR" dirty="0"/>
              <a:t>tree with </a:t>
            </a:r>
            <a:r>
              <a:rPr lang="en-US" altLang="ko-KR" b="1" dirty="0">
                <a:solidFill>
                  <a:schemeClr val="bg1"/>
                </a:solidFill>
              </a:rPr>
              <a:t>multiple elements</a:t>
            </a:r>
          </a:p>
          <a:p>
            <a:pPr lvl="1"/>
            <a:endParaRPr lang="en-US" altLang="ko-KR" dirty="0"/>
          </a:p>
        </p:txBody>
      </p:sp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Problem: BST Search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64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Solution: BST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46573" y="2680235"/>
            <a:ext cx="10883427" cy="239947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public IAbstractBinarySearchTree&lt;T&gt; Search(T element) {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Node&lt;T&gt; current = this.Root;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</a:t>
            </a:r>
            <a:r>
              <a:rPr lang="en-GB" sz="2700" b="1" noProof="1">
                <a:solidFill>
                  <a:schemeClr val="accent2"/>
                </a:solidFill>
                <a:latin typeface="Consolas" pitchFamily="49" charset="0"/>
              </a:rPr>
              <a:t>// TODO: Find the node with the element</a:t>
            </a:r>
            <a:endParaRPr lang="en-GB" sz="2700" b="1" noProof="1">
              <a:latin typeface="Consolas" pitchFamily="49" charset="0"/>
            </a:endParaRP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   return new BinarySearchTree&lt;T&gt;(current);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}</a:t>
            </a:r>
            <a:endParaRPr lang="en-US" sz="2700" b="1" noProof="1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17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Solution: BST Search</a:t>
            </a:r>
            <a:r>
              <a:rPr lang="bg-BG" altLang="ko-KR" dirty="0"/>
              <a:t> 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96214" y="1380081"/>
            <a:ext cx="10210802" cy="501711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public BinarySearchTree(Node&lt;T&gt; root)</a:t>
            </a:r>
            <a:r>
              <a:rPr lang="en-US" sz="2700" b="1" noProof="1">
                <a:latin typeface="Consolas" pitchFamily="49" charset="0"/>
              </a:rPr>
              <a:t> {</a:t>
            </a:r>
            <a:endParaRPr lang="en-GB" sz="2700" b="1" noProof="1">
              <a:latin typeface="Consolas" pitchFamily="49" charset="0"/>
            </a:endParaRPr>
          </a:p>
          <a:p>
            <a:pPr defTabSz="1218438">
              <a:lnSpc>
                <a:spcPct val="105000"/>
              </a:lnSpc>
            </a:pPr>
            <a:r>
              <a:rPr lang="bg-BG" sz="2700" b="1" noProof="1">
                <a:latin typeface="Consolas" pitchFamily="49" charset="0"/>
              </a:rPr>
              <a:t>  </a:t>
            </a:r>
            <a:r>
              <a:rPr lang="en-GB" sz="2700" b="1" noProof="1">
                <a:latin typeface="Consolas" pitchFamily="49" charset="0"/>
              </a:rPr>
              <a:t>this.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Copy</a:t>
            </a:r>
            <a:r>
              <a:rPr lang="en-GB" sz="2700" b="1" noProof="1">
                <a:latin typeface="Consolas" pitchFamily="49" charset="0"/>
              </a:rPr>
              <a:t>(root);</a:t>
            </a:r>
          </a:p>
          <a:p>
            <a:pPr defTabSz="1218438">
              <a:lnSpc>
                <a:spcPct val="105000"/>
              </a:lnSpc>
            </a:pPr>
            <a:r>
              <a:rPr lang="en-US" sz="2700" b="1" noProof="1">
                <a:latin typeface="Consolas" pitchFamily="49" charset="0"/>
              </a:rPr>
              <a:t>}</a:t>
            </a:r>
          </a:p>
          <a:p>
            <a:pPr defTabSz="1218438">
              <a:lnSpc>
                <a:spcPct val="105000"/>
              </a:lnSpc>
            </a:pPr>
            <a:endParaRPr lang="bg-BG" sz="2700" b="1" noProof="1">
              <a:latin typeface="Consolas" pitchFamily="49" charset="0"/>
            </a:endParaRP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private void Copy(Node&lt;T&gt; node) {</a:t>
            </a:r>
          </a:p>
          <a:p>
            <a:pPr defTabSz="1218438">
              <a:lnSpc>
                <a:spcPct val="105000"/>
              </a:lnSpc>
            </a:pPr>
            <a:r>
              <a:rPr lang="bg-BG" sz="2700" b="1" noProof="1">
                <a:latin typeface="Consolas" pitchFamily="49" charset="0"/>
              </a:rPr>
              <a:t>  </a:t>
            </a:r>
            <a:r>
              <a:rPr lang="en-GB" sz="2700" b="1" noProof="1">
                <a:latin typeface="Consolas" pitchFamily="49" charset="0"/>
              </a:rPr>
              <a:t>if (node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==</a:t>
            </a:r>
            <a:r>
              <a:rPr lang="en-GB" sz="2700" b="1" noProof="1">
                <a:latin typeface="Consolas" pitchFamily="49" charset="0"/>
              </a:rPr>
              <a:t> null)</a:t>
            </a:r>
            <a:r>
              <a:rPr lang="bg-BG" sz="2700" b="1" noProof="1">
                <a:latin typeface="Consolas" pitchFamily="49" charset="0"/>
              </a:rPr>
              <a:t> 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return</a:t>
            </a:r>
            <a:r>
              <a:rPr lang="en-GB" sz="2700" b="1" noProof="1">
                <a:latin typeface="Consolas" pitchFamily="49" charset="0"/>
              </a:rPr>
              <a:t>;</a:t>
            </a:r>
          </a:p>
          <a:p>
            <a:pPr defTabSz="1218438">
              <a:lnSpc>
                <a:spcPct val="105000"/>
              </a:lnSpc>
            </a:pPr>
            <a:endParaRPr lang="en-GB" sz="2700" b="1" noProof="1">
              <a:latin typeface="Consolas" pitchFamily="49" charset="0"/>
            </a:endParaRPr>
          </a:p>
          <a:p>
            <a:pPr defTabSz="1218438">
              <a:lnSpc>
                <a:spcPct val="105000"/>
              </a:lnSpc>
            </a:pPr>
            <a:r>
              <a:rPr lang="bg-BG" sz="2700" b="1" noProof="1">
                <a:latin typeface="Consolas" pitchFamily="49" charset="0"/>
              </a:rPr>
              <a:t>  </a:t>
            </a:r>
            <a:r>
              <a:rPr lang="en-GB" sz="2700" b="1" noProof="1">
                <a:latin typeface="Consolas" pitchFamily="49" charset="0"/>
              </a:rPr>
              <a:t>this.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Insert</a:t>
            </a:r>
            <a:r>
              <a:rPr lang="en-GB" sz="2700" b="1" noProof="1">
                <a:latin typeface="Consolas" pitchFamily="49" charset="0"/>
              </a:rPr>
              <a:t>(node.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Value</a:t>
            </a:r>
            <a:r>
              <a:rPr lang="en-GB" sz="2700" b="1" noProof="1">
                <a:latin typeface="Consolas" pitchFamily="49" charset="0"/>
              </a:rPr>
              <a:t>);</a:t>
            </a:r>
          </a:p>
          <a:p>
            <a:pPr defTabSz="1218438">
              <a:lnSpc>
                <a:spcPct val="105000"/>
              </a:lnSpc>
            </a:pPr>
            <a:r>
              <a:rPr lang="bg-BG" sz="2700" b="1" noProof="1">
                <a:latin typeface="Consolas" pitchFamily="49" charset="0"/>
              </a:rPr>
              <a:t>  </a:t>
            </a:r>
            <a:r>
              <a:rPr lang="en-GB" sz="2700" b="1" noProof="1">
                <a:latin typeface="Consolas" pitchFamily="49" charset="0"/>
              </a:rPr>
              <a:t>this.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Copy</a:t>
            </a:r>
            <a:r>
              <a:rPr lang="en-GB" sz="2700" b="1" noProof="1">
                <a:latin typeface="Consolas" pitchFamily="49" charset="0"/>
              </a:rPr>
              <a:t>(node.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LeftChild</a:t>
            </a:r>
            <a:r>
              <a:rPr lang="en-GB" sz="2700" b="1" noProof="1">
                <a:latin typeface="Consolas" pitchFamily="49" charset="0"/>
              </a:rPr>
              <a:t>);</a:t>
            </a:r>
          </a:p>
          <a:p>
            <a:pPr defTabSz="1218438">
              <a:lnSpc>
                <a:spcPct val="105000"/>
              </a:lnSpc>
            </a:pPr>
            <a:r>
              <a:rPr lang="bg-BG" sz="2700" b="1" noProof="1">
                <a:latin typeface="Consolas" pitchFamily="49" charset="0"/>
              </a:rPr>
              <a:t>  </a:t>
            </a:r>
            <a:r>
              <a:rPr lang="en-GB" sz="2700" b="1" noProof="1">
                <a:latin typeface="Consolas" pitchFamily="49" charset="0"/>
              </a:rPr>
              <a:t>this.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Vopy</a:t>
            </a:r>
            <a:r>
              <a:rPr lang="en-GB" sz="2700" b="1" noProof="1">
                <a:latin typeface="Consolas" pitchFamily="49" charset="0"/>
              </a:rPr>
              <a:t>(node.</a:t>
            </a:r>
            <a:r>
              <a:rPr lang="en-GB" sz="2700" b="1" noProof="1">
                <a:solidFill>
                  <a:schemeClr val="bg1"/>
                </a:solidFill>
                <a:latin typeface="Consolas" pitchFamily="49" charset="0"/>
              </a:rPr>
              <a:t>RightChild</a:t>
            </a:r>
            <a:r>
              <a:rPr lang="en-GB" sz="2700" b="1" noProof="1">
                <a:latin typeface="Consolas" pitchFamily="49" charset="0"/>
              </a:rPr>
              <a:t>);</a:t>
            </a:r>
          </a:p>
          <a:p>
            <a:pPr defTabSz="1218438">
              <a:lnSpc>
                <a:spcPct val="105000"/>
              </a:lnSpc>
            </a:pPr>
            <a:r>
              <a:rPr lang="en-GB" sz="2700" b="1" noProof="1">
                <a:latin typeface="Consolas" pitchFamily="49" charset="0"/>
              </a:rPr>
              <a:t>}</a:t>
            </a:r>
            <a:endParaRPr lang="en-US" sz="2700" b="1" noProof="1">
              <a:latin typeface="Consolas" pitchFamily="49" charset="0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7098217" y="3965663"/>
            <a:ext cx="2910000" cy="1055608"/>
          </a:xfrm>
          <a:prstGeom prst="wedgeRoundRectCallout">
            <a:avLst>
              <a:gd name="adj1" fmla="val -66566"/>
              <a:gd name="adj2" fmla="val 4577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800" b="1" noProof="1">
                <a:solidFill>
                  <a:srgbClr val="FFFFFF"/>
                </a:solidFill>
                <a:sym typeface="Symbol" pitchFamily="18" charset="2"/>
              </a:rPr>
              <a:t>Pre-Order Traversal</a:t>
            </a:r>
            <a:endParaRPr lang="bg-BG"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23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04801" y="1292555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TIME’S UP!</a:t>
            </a:r>
            <a:endParaRPr lang="bg-B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77138" y="1850456"/>
            <a:ext cx="11818096" cy="442615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What is the speed of the </a:t>
            </a:r>
            <a:r>
              <a:rPr lang="en-US" b="1" dirty="0">
                <a:solidFill>
                  <a:schemeClr val="bg1"/>
                </a:solidFill>
              </a:rPr>
              <a:t>search(E)</a:t>
            </a:r>
            <a:r>
              <a:rPr lang="en-US" dirty="0"/>
              <a:t> operation on BST?</a:t>
            </a:r>
          </a:p>
          <a:p>
            <a:pPr lvl="1"/>
            <a:r>
              <a:rPr lang="en-US" dirty="0">
                <a:hlinkClick r:id="rId2" action="ppaction://hlinksldjump"/>
              </a:rPr>
              <a:t>O(n)</a:t>
            </a:r>
          </a:p>
          <a:p>
            <a:pPr lvl="1"/>
            <a:r>
              <a:rPr lang="en-US" dirty="0">
                <a:hlinkClick r:id="rId2" action="ppaction://hlinksldjump"/>
              </a:rPr>
              <a:t>O(log(n))</a:t>
            </a:r>
          </a:p>
          <a:p>
            <a:pPr lvl="1"/>
            <a:r>
              <a:rPr lang="en-US" dirty="0">
                <a:hlinkClick r:id="rId2" action="ppaction://hlinksldjump"/>
              </a:rPr>
              <a:t>O(1)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- Search Operation Speed - Quiz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 rot="16200000">
            <a:off x="3095812" y="-770679"/>
            <a:ext cx="285379" cy="449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18" name="TextBox 17"/>
          <p:cNvSpPr txBox="1"/>
          <p:nvPr/>
        </p:nvSpPr>
        <p:spPr>
          <a:xfrm>
            <a:off x="304801" y="129540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TIME: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7102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0" dur="1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" grpId="0" uiExpand="1" build="p"/>
      <p:bldP spid="17" grpId="0" animBg="1"/>
      <p:bldP spid="17" grpId="1" animBg="1"/>
      <p:bldP spid="18" grpId="0"/>
      <p:bldP spid="18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the speed of the </a:t>
            </a:r>
            <a:r>
              <a:rPr lang="en-US" b="1" dirty="0">
                <a:solidFill>
                  <a:schemeClr val="bg1"/>
                </a:solidFill>
              </a:rPr>
              <a:t>search(E)</a:t>
            </a:r>
            <a:r>
              <a:rPr lang="en-US" dirty="0"/>
              <a:t> operation on BST?</a:t>
            </a:r>
          </a:p>
          <a:p>
            <a:pPr lvl="1">
              <a:buClr>
                <a:schemeClr val="tx1"/>
              </a:buClr>
            </a:pPr>
            <a:r>
              <a:rPr lang="en-US" dirty="0">
                <a:solidFill>
                  <a:srgbClr val="A9ED58"/>
                </a:solidFill>
              </a:rPr>
              <a:t>O(n)</a:t>
            </a:r>
          </a:p>
          <a:p>
            <a:pPr lvl="1"/>
            <a:r>
              <a:rPr lang="en-US" dirty="0"/>
              <a:t>O(log(n))</a:t>
            </a:r>
          </a:p>
          <a:p>
            <a:pPr lvl="1"/>
            <a:r>
              <a:rPr lang="en-US" dirty="0"/>
              <a:t>O(1)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- Search Operation Speed - Answer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404" y="3235127"/>
            <a:ext cx="558598" cy="55859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404" y="2615709"/>
            <a:ext cx="558598" cy="5585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404" y="1752600"/>
            <a:ext cx="630764" cy="630764"/>
          </a:xfrm>
          <a:prstGeom prst="rect">
            <a:avLst/>
          </a:prstGeom>
        </p:spPr>
      </p:pic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5931672" y="2493494"/>
            <a:ext cx="845971" cy="803028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6898858" y="3344215"/>
            <a:ext cx="845971" cy="803028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19</a:t>
            </a: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6669832" y="3156644"/>
            <a:ext cx="323121" cy="32745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7848601" y="4351656"/>
            <a:ext cx="845971" cy="803028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7593396" y="4077805"/>
            <a:ext cx="371302" cy="3809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8821753" y="5292373"/>
            <a:ext cx="845971" cy="803028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34</a:t>
            </a:r>
          </a:p>
        </p:txBody>
      </p:sp>
      <p:sp>
        <p:nvSpPr>
          <p:cNvPr id="22" name="Line 15"/>
          <p:cNvSpPr>
            <a:spLocks noChangeShapeType="1"/>
          </p:cNvSpPr>
          <p:nvPr/>
        </p:nvSpPr>
        <p:spPr bwMode="auto">
          <a:xfrm>
            <a:off x="8566548" y="5018522"/>
            <a:ext cx="371302" cy="3809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68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Insert – </a:t>
            </a:r>
            <a:r>
              <a:rPr lang="en-US" b="1" dirty="0">
                <a:solidFill>
                  <a:schemeClr val="bg1"/>
                </a:solidFill>
              </a:rPr>
              <a:t>height</a:t>
            </a:r>
            <a:r>
              <a:rPr lang="en-US" dirty="0"/>
              <a:t> of tree</a:t>
            </a:r>
          </a:p>
          <a:p>
            <a:r>
              <a:rPr lang="en-US" dirty="0"/>
              <a:t>Search – </a:t>
            </a:r>
            <a:r>
              <a:rPr lang="en-US" b="1" dirty="0">
                <a:solidFill>
                  <a:schemeClr val="bg1"/>
                </a:solidFill>
              </a:rPr>
              <a:t>height</a:t>
            </a:r>
            <a:r>
              <a:rPr lang="en-US" dirty="0"/>
              <a:t> of tree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Search Trees – Operation Speed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46</a:t>
            </a:fld>
            <a:endParaRPr lang="en-US" dirty="0"/>
          </a:p>
        </p:txBody>
      </p:sp>
      <p:grpSp>
        <p:nvGrpSpPr>
          <p:cNvPr id="32" name="Group 31"/>
          <p:cNvGrpSpPr/>
          <p:nvPr/>
        </p:nvGrpSpPr>
        <p:grpSpPr>
          <a:xfrm>
            <a:off x="5640877" y="2550575"/>
            <a:ext cx="4983712" cy="3396414"/>
            <a:chOff x="6705601" y="1905000"/>
            <a:chExt cx="4983712" cy="3396414"/>
          </a:xfrm>
        </p:grpSpPr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8799232" y="1905000"/>
              <a:ext cx="845971" cy="803028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auto">
            <a:xfrm>
              <a:off x="9981673" y="3141522"/>
              <a:ext cx="845971" cy="803028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auto">
            <a:xfrm>
              <a:off x="7543114" y="3088993"/>
              <a:ext cx="844318" cy="803028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36" name="Oval 35"/>
            <p:cNvSpPr>
              <a:spLocks noChangeArrowheads="1"/>
            </p:cNvSpPr>
            <p:nvPr/>
          </p:nvSpPr>
          <p:spPr bwMode="auto">
            <a:xfrm>
              <a:off x="9251120" y="4498386"/>
              <a:ext cx="849276" cy="803028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18</a:t>
              </a:r>
            </a:p>
          </p:txBody>
        </p:sp>
        <p:sp>
          <p:nvSpPr>
            <p:cNvPr id="37" name="Line 10"/>
            <p:cNvSpPr>
              <a:spLocks noChangeShapeType="1"/>
            </p:cNvSpPr>
            <p:nvPr/>
          </p:nvSpPr>
          <p:spPr bwMode="auto">
            <a:xfrm flipH="1">
              <a:off x="8263905" y="2508940"/>
              <a:ext cx="601033" cy="688655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 flipH="1">
              <a:off x="7306705" y="3868309"/>
              <a:ext cx="457817" cy="619147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9" name="Line 12"/>
            <p:cNvSpPr>
              <a:spLocks noChangeShapeType="1"/>
            </p:cNvSpPr>
            <p:nvPr/>
          </p:nvSpPr>
          <p:spPr bwMode="auto">
            <a:xfrm flipH="1">
              <a:off x="9767998" y="3868309"/>
              <a:ext cx="332398" cy="619147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0" name="Line 13"/>
            <p:cNvSpPr>
              <a:spLocks noChangeShapeType="1"/>
            </p:cNvSpPr>
            <p:nvPr/>
          </p:nvSpPr>
          <p:spPr bwMode="auto">
            <a:xfrm>
              <a:off x="9537392" y="2568149"/>
              <a:ext cx="563005" cy="684100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10843342" y="4452842"/>
              <a:ext cx="845971" cy="803028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25</a:t>
              </a:r>
            </a:p>
          </p:txBody>
        </p:sp>
        <p:sp>
          <p:nvSpPr>
            <p:cNvPr id="42" name="Line 15"/>
            <p:cNvSpPr>
              <a:spLocks noChangeShapeType="1"/>
            </p:cNvSpPr>
            <p:nvPr/>
          </p:nvSpPr>
          <p:spPr bwMode="auto">
            <a:xfrm>
              <a:off x="10612388" y="3897180"/>
              <a:ext cx="445210" cy="601207"/>
            </a:xfrm>
            <a:prstGeom prst="lin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6705601" y="4453411"/>
              <a:ext cx="845971" cy="803028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50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Example: Insert 17, 10, 25, 5, 15, 19, 34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Search Trees – Best Case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5773905" y="2473697"/>
            <a:ext cx="845971" cy="803028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6429542" y="4445992"/>
            <a:ext cx="845971" cy="803028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19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6537129" y="3132981"/>
            <a:ext cx="701872" cy="33131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7091600" y="3387972"/>
            <a:ext cx="845971" cy="803028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H="1">
            <a:off x="7156686" y="4191001"/>
            <a:ext cx="234714" cy="36433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937571" y="4426942"/>
            <a:ext cx="845971" cy="803028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34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7696200" y="4171951"/>
            <a:ext cx="357468" cy="36213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3601081" y="4426942"/>
            <a:ext cx="845971" cy="803028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263139" y="3368922"/>
            <a:ext cx="845971" cy="803028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10</a:t>
            </a:r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 flipH="1">
            <a:off x="4328225" y="4171951"/>
            <a:ext cx="234714" cy="36433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5109110" y="4407892"/>
            <a:ext cx="845971" cy="803028"/>
          </a:xfrm>
          <a:prstGeom prst="ellipse">
            <a:avLst/>
          </a:prstGeom>
          <a:solidFill>
            <a:schemeClr val="bg2">
              <a:alpha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15</a:t>
            </a:r>
          </a:p>
        </p:txBody>
      </p:sp>
      <p:sp>
        <p:nvSpPr>
          <p:cNvPr id="23" name="Line 15"/>
          <p:cNvSpPr>
            <a:spLocks noChangeShapeType="1"/>
          </p:cNvSpPr>
          <p:nvPr/>
        </p:nvSpPr>
        <p:spPr bwMode="auto">
          <a:xfrm>
            <a:off x="4867739" y="4152901"/>
            <a:ext cx="357468" cy="36213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4952997" y="3132980"/>
            <a:ext cx="902040" cy="3240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596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3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 can insert values in ever </a:t>
            </a:r>
            <a:r>
              <a:rPr lang="en-US" b="1" dirty="0">
                <a:solidFill>
                  <a:schemeClr val="bg1"/>
                </a:solidFill>
              </a:rPr>
              <a:t>random</a:t>
            </a:r>
            <a:r>
              <a:rPr lang="en-US" dirty="0"/>
              <a:t> order</a:t>
            </a:r>
          </a:p>
          <a:p>
            <a:r>
              <a:rPr lang="en-US" dirty="0"/>
              <a:t>Example: Insert 17, 19, 9, 6, 25, 28, 18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Search Trees – Average Case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5339520" y="2514600"/>
            <a:ext cx="845971" cy="80302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6237500" y="3584688"/>
            <a:ext cx="845971" cy="80302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19</a:t>
            </a: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4225101" y="3584688"/>
            <a:ext cx="844318" cy="80302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5473031" y="4695468"/>
            <a:ext cx="849276" cy="80302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18</a:t>
            </a:r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 flipH="1">
            <a:off x="4927720" y="3118540"/>
            <a:ext cx="477505" cy="54890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4" name="Line 11"/>
          <p:cNvSpPr>
            <a:spLocks noChangeShapeType="1"/>
          </p:cNvSpPr>
          <p:nvPr/>
        </p:nvSpPr>
        <p:spPr bwMode="auto">
          <a:xfrm flipH="1">
            <a:off x="4113587" y="4321072"/>
            <a:ext cx="271161" cy="38540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5" name="Line 12"/>
          <p:cNvSpPr>
            <a:spLocks noChangeShapeType="1"/>
          </p:cNvSpPr>
          <p:nvPr/>
        </p:nvSpPr>
        <p:spPr bwMode="auto">
          <a:xfrm flipH="1">
            <a:off x="6077679" y="4321071"/>
            <a:ext cx="332740" cy="3854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" name="Line 13"/>
          <p:cNvSpPr>
            <a:spLocks noChangeShapeType="1"/>
          </p:cNvSpPr>
          <p:nvPr/>
        </p:nvSpPr>
        <p:spPr bwMode="auto">
          <a:xfrm>
            <a:off x="6077680" y="3177750"/>
            <a:ext cx="323121" cy="48969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6954440" y="4695468"/>
            <a:ext cx="845971" cy="80302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28" name="Line 15"/>
          <p:cNvSpPr>
            <a:spLocks noChangeShapeType="1"/>
          </p:cNvSpPr>
          <p:nvPr/>
        </p:nvSpPr>
        <p:spPr bwMode="auto">
          <a:xfrm>
            <a:off x="6926013" y="4321072"/>
            <a:ext cx="335005" cy="38540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3581401" y="4700102"/>
            <a:ext cx="845971" cy="80302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6</a:t>
            </a:r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7729330" y="5753143"/>
            <a:ext cx="845971" cy="803028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28</a:t>
            </a:r>
          </a:p>
        </p:txBody>
      </p:sp>
      <p:sp>
        <p:nvSpPr>
          <p:cNvPr id="31" name="Line 15"/>
          <p:cNvSpPr>
            <a:spLocks noChangeShapeType="1"/>
          </p:cNvSpPr>
          <p:nvPr/>
        </p:nvSpPr>
        <p:spPr bwMode="auto">
          <a:xfrm>
            <a:off x="7561428" y="5435876"/>
            <a:ext cx="335805" cy="37439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62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 can insert values in ever </a:t>
            </a:r>
            <a:r>
              <a:rPr lang="en-US" b="1" dirty="0">
                <a:solidFill>
                  <a:schemeClr val="bg1"/>
                </a:solidFill>
              </a:rPr>
              <a:t>increasing/decreasing</a:t>
            </a:r>
            <a:r>
              <a:rPr lang="en-US" dirty="0"/>
              <a:t> order</a:t>
            </a:r>
          </a:p>
          <a:p>
            <a:r>
              <a:rPr lang="en-US" dirty="0"/>
              <a:t>Example: Insert 17, 19, 25, 34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Search Trees – Worst Case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4038601" y="2743200"/>
            <a:ext cx="845971" cy="803028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17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5005787" y="3593921"/>
            <a:ext cx="845971" cy="803028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19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4776761" y="3406350"/>
            <a:ext cx="323121" cy="32745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5955530" y="4601362"/>
            <a:ext cx="845971" cy="803028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5700325" y="4327511"/>
            <a:ext cx="371302" cy="3809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6928682" y="5542079"/>
            <a:ext cx="845971" cy="803028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 dirty="0">
                <a:latin typeface="Consolas" pitchFamily="49" charset="0"/>
                <a:cs typeface="Consolas" pitchFamily="49" charset="0"/>
              </a:rPr>
              <a:t>34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6673477" y="5268228"/>
            <a:ext cx="371302" cy="3809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b="1" dirty="0"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AutoShape 5"/>
          <p:cNvSpPr>
            <a:spLocks noChangeArrowheads="1"/>
          </p:cNvSpPr>
          <p:nvPr/>
        </p:nvSpPr>
        <p:spPr bwMode="auto">
          <a:xfrm>
            <a:off x="6673477" y="3472382"/>
            <a:ext cx="2563852" cy="578882"/>
          </a:xfrm>
          <a:prstGeom prst="wedgeRoundRectCallout">
            <a:avLst>
              <a:gd name="adj1" fmla="val -57943"/>
              <a:gd name="adj2" fmla="val 524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800" b="1" noProof="1">
                <a:solidFill>
                  <a:srgbClr val="FFFFFF"/>
                </a:solidFill>
                <a:sym typeface="Symbol" pitchFamily="18" charset="2"/>
              </a:rPr>
              <a:t>Linked List</a:t>
            </a:r>
            <a:endParaRPr lang="bg-BG"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99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5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>
                <a:sym typeface="Symbol" pitchFamily="18" charset="2"/>
              </a:rPr>
              <a:t>Binary search trees can be </a:t>
            </a:r>
            <a:r>
              <a:rPr lang="en-US" b="1" dirty="0">
                <a:solidFill>
                  <a:schemeClr val="bg1"/>
                </a:solidFill>
                <a:sym typeface="Symbol" pitchFamily="18" charset="2"/>
              </a:rPr>
              <a:t>balanced</a:t>
            </a:r>
          </a:p>
          <a:p>
            <a:pPr lvl="1"/>
            <a:r>
              <a:rPr lang="en-US" dirty="0">
                <a:sym typeface="Symbol" pitchFamily="18" charset="2"/>
              </a:rPr>
              <a:t>Balanced trees have for each node</a:t>
            </a:r>
          </a:p>
          <a:p>
            <a:pPr lvl="2"/>
            <a:r>
              <a:rPr lang="en-US" dirty="0">
                <a:sym typeface="Symbol" pitchFamily="18" charset="2"/>
              </a:rPr>
              <a:t>Nearly equal number of nodes in its subtrees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sym typeface="Symbol" pitchFamily="18" charset="2"/>
              </a:rPr>
              <a:t>Balanced trees </a:t>
            </a:r>
            <a:r>
              <a:rPr lang="en-US" dirty="0">
                <a:sym typeface="Symbol" pitchFamily="18" charset="2"/>
              </a:rPr>
              <a:t>have</a:t>
            </a:r>
            <a:r>
              <a:rPr lang="en-US" b="1" dirty="0">
                <a:solidFill>
                  <a:schemeClr val="bg1"/>
                </a:solidFill>
                <a:sym typeface="Symbol" pitchFamily="18" charset="2"/>
              </a:rPr>
              <a:t> height of ~ log(n)</a:t>
            </a:r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Balanced Binary Search Trees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8452FF4-89E3-4D1B-9927-2DBDC00E58D7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816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51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3481" y="1420275"/>
            <a:ext cx="8630747" cy="529895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8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8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8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227" y="3276682"/>
            <a:ext cx="2881926" cy="3118969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544521" y="1724213"/>
            <a:ext cx="7963887" cy="4735324"/>
          </a:xfrm>
          <a:prstGeom prst="rect">
            <a:avLst/>
          </a:prstGeom>
        </p:spPr>
        <p:txBody>
          <a:bodyPr vert="horz" lIns="107972" tIns="35991" rIns="107972" bIns="35991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chemeClr val="bg2"/>
              </a:buClr>
            </a:pPr>
            <a:r>
              <a:rPr lang="en-US" sz="2800" b="1" dirty="0">
                <a:solidFill>
                  <a:schemeClr val="bg1"/>
                </a:solidFill>
              </a:rPr>
              <a:t>Binary </a:t>
            </a:r>
            <a:r>
              <a:rPr lang="en-US" sz="2800" dirty="0">
                <a:solidFill>
                  <a:schemeClr val="bg2"/>
                </a:solidFill>
              </a:rPr>
              <a:t>trees have </a:t>
            </a:r>
            <a:r>
              <a:rPr lang="en-US" sz="2800" b="1" dirty="0">
                <a:solidFill>
                  <a:schemeClr val="bg1"/>
                </a:solidFill>
              </a:rPr>
              <a:t>0</a:t>
            </a:r>
            <a:r>
              <a:rPr lang="en-US" sz="2800" dirty="0">
                <a:solidFill>
                  <a:schemeClr val="bg2"/>
                </a:solidFill>
              </a:rPr>
              <a:t> or </a:t>
            </a:r>
            <a:r>
              <a:rPr lang="en-US" sz="2800" b="1" dirty="0">
                <a:solidFill>
                  <a:schemeClr val="bg1"/>
                </a:solidFill>
              </a:rPr>
              <a:t>2</a:t>
            </a:r>
            <a:r>
              <a:rPr lang="en-US" sz="2800" dirty="0">
                <a:solidFill>
                  <a:schemeClr val="bg2"/>
                </a:solidFill>
              </a:rPr>
              <a:t> children</a:t>
            </a:r>
          </a:p>
          <a:p>
            <a:pPr lvl="0">
              <a:buClr>
                <a:schemeClr val="bg2"/>
              </a:buClr>
            </a:pPr>
            <a:r>
              <a:rPr lang="en-US" sz="2800" b="1" dirty="0">
                <a:solidFill>
                  <a:schemeClr val="bg1"/>
                </a:solidFill>
              </a:rPr>
              <a:t>Heaps</a:t>
            </a:r>
            <a:r>
              <a:rPr lang="en-US" sz="2800" dirty="0">
                <a:solidFill>
                  <a:schemeClr val="bg2"/>
                </a:solidFill>
              </a:rPr>
              <a:t> are used to </a:t>
            </a:r>
            <a:r>
              <a:rPr lang="en-US" sz="2800" b="1" dirty="0">
                <a:solidFill>
                  <a:schemeClr val="bg1"/>
                </a:solidFill>
              </a:rPr>
              <a:t>implement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priority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en-US" sz="2800" dirty="0">
                <a:solidFill>
                  <a:schemeClr val="bg2"/>
                </a:solidFill>
              </a:rPr>
              <a:t>queues</a:t>
            </a:r>
          </a:p>
          <a:p>
            <a:pPr lvl="0">
              <a:buClr>
                <a:schemeClr val="bg2"/>
              </a:buClr>
            </a:pPr>
            <a:r>
              <a:rPr lang="en-US" sz="2800" dirty="0">
                <a:solidFill>
                  <a:schemeClr val="bg2"/>
                </a:solidFill>
              </a:rPr>
              <a:t>Binary Heaps have tree-like structure</a:t>
            </a:r>
          </a:p>
          <a:p>
            <a:pPr lvl="0">
              <a:buClr>
                <a:schemeClr val="bg2"/>
              </a:buClr>
            </a:pPr>
            <a:r>
              <a:rPr lang="en-US" sz="2800" b="1" dirty="0">
                <a:solidFill>
                  <a:schemeClr val="bg1"/>
                </a:solidFill>
              </a:rPr>
              <a:t>Efficient</a:t>
            </a:r>
            <a:r>
              <a:rPr lang="en-US" sz="2800" dirty="0">
                <a:solidFill>
                  <a:schemeClr val="bg2"/>
                </a:solidFill>
              </a:rPr>
              <a:t> operations</a:t>
            </a:r>
          </a:p>
          <a:p>
            <a:pPr lvl="1">
              <a:buClr>
                <a:schemeClr val="bg2"/>
              </a:buClr>
            </a:pPr>
            <a:r>
              <a:rPr lang="en-US" sz="2800" b="1" dirty="0">
                <a:solidFill>
                  <a:schemeClr val="bg1"/>
                </a:solidFill>
              </a:rPr>
              <a:t>Add</a:t>
            </a:r>
          </a:p>
          <a:p>
            <a:pPr lvl="1">
              <a:buClr>
                <a:schemeClr val="bg2"/>
              </a:buClr>
            </a:pPr>
            <a:r>
              <a:rPr lang="en-US" sz="2800" b="1" dirty="0">
                <a:solidFill>
                  <a:schemeClr val="bg1"/>
                </a:solidFill>
              </a:rPr>
              <a:t>Find</a:t>
            </a:r>
            <a:r>
              <a:rPr lang="en-US" sz="2600" dirty="0">
                <a:solidFill>
                  <a:schemeClr val="bg2"/>
                </a:solidFill>
              </a:rPr>
              <a:t> min</a:t>
            </a:r>
          </a:p>
          <a:p>
            <a:pPr lvl="1">
              <a:buClr>
                <a:schemeClr val="bg2"/>
              </a:buClr>
            </a:pPr>
            <a:r>
              <a:rPr lang="en-US" sz="2800" b="1" dirty="0">
                <a:solidFill>
                  <a:schemeClr val="bg1"/>
                </a:solidFill>
              </a:rPr>
              <a:t>Remove</a:t>
            </a:r>
            <a:r>
              <a:rPr lang="en-US" sz="2800" dirty="0">
                <a:solidFill>
                  <a:schemeClr val="bg2"/>
                </a:solidFill>
              </a:rPr>
              <a:t> min</a:t>
            </a:r>
          </a:p>
          <a:p>
            <a:pPr lvl="0">
              <a:buClr>
                <a:schemeClr val="bg2"/>
              </a:buClr>
            </a:pPr>
            <a:r>
              <a:rPr lang="en-US" sz="2800" dirty="0">
                <a:solidFill>
                  <a:schemeClr val="bg2"/>
                </a:solidFill>
              </a:rPr>
              <a:t>Priority Queues have </a:t>
            </a:r>
            <a:r>
              <a:rPr lang="en-US" sz="2800" b="1" dirty="0">
                <a:solidFill>
                  <a:schemeClr val="bg1"/>
                </a:solidFill>
              </a:rPr>
              <a:t>wide application</a:t>
            </a:r>
          </a:p>
        </p:txBody>
      </p:sp>
    </p:spTree>
    <p:extLst>
      <p:ext uri="{BB962C8B-B14F-4D97-AF65-F5344CB8AC3E}">
        <p14:creationId xmlns:p14="http://schemas.microsoft.com/office/powerpoint/2010/main" val="86072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797" dirty="0">
                <a:solidFill>
                  <a:srgbClr val="234465"/>
                </a:solidFill>
              </a:rPr>
              <a:t>Questions?</a:t>
            </a:r>
            <a:endParaRPr lang="en-US" sz="8797" dirty="0"/>
          </a:p>
        </p:txBody>
      </p:sp>
    </p:spTree>
    <p:extLst>
      <p:ext uri="{BB962C8B-B14F-4D97-AF65-F5344CB8AC3E}">
        <p14:creationId xmlns:p14="http://schemas.microsoft.com/office/powerpoint/2010/main" val="296185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https://about.softuni.bg/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653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about.softuni.bg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Forums</a:t>
            </a:r>
          </a:p>
          <a:p>
            <a:pPr lvl="1"/>
            <a:r>
              <a:rPr lang="en-US" sz="3000" dirty="0">
                <a:hlinkClick r:id="rId7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1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1_SoftUni3_1">
  <a:themeElements>
    <a:clrScheme name="Custom 2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7C86D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3_1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18625</TotalTime>
  <Words>2936</Words>
  <Application>Microsoft Office PowerPoint</Application>
  <PresentationFormat>Widescreen</PresentationFormat>
  <Paragraphs>684</Paragraphs>
  <Slides>54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Consolas</vt:lpstr>
      <vt:lpstr>Wingdings</vt:lpstr>
      <vt:lpstr>Wingdings 2</vt:lpstr>
      <vt:lpstr>1_SoftUni3_1</vt:lpstr>
      <vt:lpstr>Binary Trees, Heaps and BST</vt:lpstr>
      <vt:lpstr>Table of Contents</vt:lpstr>
      <vt:lpstr>Have a Question?</vt:lpstr>
      <vt:lpstr>PowerPoint Presentation</vt:lpstr>
      <vt:lpstr>Binary Tree</vt:lpstr>
      <vt:lpstr>Binary Trees</vt:lpstr>
      <vt:lpstr>Types of Binary Trees</vt:lpstr>
      <vt:lpstr>Types of Binary Trees</vt:lpstr>
      <vt:lpstr>Types of Binary Trees</vt:lpstr>
      <vt:lpstr>Problem: Binary Tree Traversals</vt:lpstr>
      <vt:lpstr>Solution: BT Traversals - Constructor</vt:lpstr>
      <vt:lpstr>Solution: BT Traversals - Print</vt:lpstr>
      <vt:lpstr>Binary Trees Traversal: Pre-order</vt:lpstr>
      <vt:lpstr>Binary Trees Traversal: In-order</vt:lpstr>
      <vt:lpstr>Binary Trees Traversal: Post-order</vt:lpstr>
      <vt:lpstr>Solution: BT Traversals - ForEachInOrder</vt:lpstr>
      <vt:lpstr>PowerPoint Presentation</vt:lpstr>
      <vt:lpstr>What is Heap?</vt:lpstr>
      <vt:lpstr>Binary Heap</vt:lpstr>
      <vt:lpstr>Binary Heap – Array Implementation</vt:lpstr>
      <vt:lpstr>Heap Insertion</vt:lpstr>
      <vt:lpstr>Problem: Heap Add and Peek</vt:lpstr>
      <vt:lpstr>Solution: Heap Add and Peek (1)</vt:lpstr>
      <vt:lpstr>Solution: Heap Add and Peek (2)</vt:lpstr>
      <vt:lpstr>PowerPoint Presentation</vt:lpstr>
      <vt:lpstr>Priority Queue</vt:lpstr>
      <vt:lpstr>Priority Queue (1)</vt:lpstr>
      <vt:lpstr>Priority Queue (2)</vt:lpstr>
      <vt:lpstr>Priority Queue</vt:lpstr>
      <vt:lpstr>Priority Queue – Complexity Goal</vt:lpstr>
      <vt:lpstr>PriorityQueue Deletion</vt:lpstr>
      <vt:lpstr>Problem: PriorityQueue Deletion</vt:lpstr>
      <vt:lpstr>Solution: PriorityQueue Deletion (1)</vt:lpstr>
      <vt:lpstr>PowerPoint Presentation</vt:lpstr>
      <vt:lpstr>Binary Search Trees</vt:lpstr>
      <vt:lpstr>BST - Search</vt:lpstr>
      <vt:lpstr>BST - Insert</vt:lpstr>
      <vt:lpstr>Problem: BST</vt:lpstr>
      <vt:lpstr>Solution: BST Contains</vt:lpstr>
      <vt:lpstr>Solution: BST Insert</vt:lpstr>
      <vt:lpstr>Problem: BST Search</vt:lpstr>
      <vt:lpstr>Solution: BST Search</vt:lpstr>
      <vt:lpstr>Solution: BST Search (2)</vt:lpstr>
      <vt:lpstr>BST - Search Operation Speed - Quiz</vt:lpstr>
      <vt:lpstr>BST - Search Operation Speed - Answer</vt:lpstr>
      <vt:lpstr>Binary Search Trees – Operation Speed</vt:lpstr>
      <vt:lpstr>Binary Search Trees – Best Case</vt:lpstr>
      <vt:lpstr>Binary Search Trees – Average Case</vt:lpstr>
      <vt:lpstr>Binary Search Trees – Worst Case</vt:lpstr>
      <vt:lpstr>Balanced Binary Search Trees</vt:lpstr>
      <vt:lpstr>Summary</vt:lpstr>
      <vt:lpstr>Questions?</vt:lpstr>
      <vt:lpstr>License</vt:lpstr>
      <vt:lpstr>Trainings @ Software University (SoftUni)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SoftUni Presentation</dc:title>
  <dc:creator>Software University Foundation</dc:creator>
  <cp:keywords>Software University, SoftUni, programming, coding, software development, education, training, course</cp:keywords>
  <cp:lastModifiedBy>kiriloirilkirilov</cp:lastModifiedBy>
  <cp:revision>573</cp:revision>
  <dcterms:created xsi:type="dcterms:W3CDTF">2018-05-23T13:08:44Z</dcterms:created>
  <dcterms:modified xsi:type="dcterms:W3CDTF">2020-09-13T17:23:34Z</dcterms:modified>
  <cp:category>computer programming, programming, data structures</cp:category>
</cp:coreProperties>
</file>